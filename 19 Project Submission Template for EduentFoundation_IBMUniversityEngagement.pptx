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50649143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smtClean="0"/>
                        <a:t>DEVEN GOL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Devengol.dce@charusat.ac.in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7984792228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2" y="1543971"/>
            <a:ext cx="10280254" cy="461665"/>
          </a:xfrm>
          <a:prstGeom prst="rect">
            <a:avLst/>
          </a:prstGeom>
          <a:noFill/>
        </p:spPr>
        <p:txBody>
          <a:bodyPr wrap="square" rtlCol="0">
            <a:spAutoFit/>
          </a:bodyPr>
          <a:lstStyle/>
          <a:p>
            <a:r>
              <a:rPr lang="en-US" sz="2400" b="1" dirty="0"/>
              <a:t>Domain of  Project – </a:t>
            </a:r>
            <a:r>
              <a:rPr lang="en-US" sz="2400" b="1" dirty="0"/>
              <a:t>Healthcare</a:t>
            </a:r>
            <a:r>
              <a:rPr lang="en-US" sz="2400" b="1" dirty="0" smtClean="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solidFill>
            <a:schemeClr val="bg1"/>
          </a:solidFill>
          <a:ln>
            <a:solidFill>
              <a:schemeClr val="bg1"/>
            </a:solidFill>
          </a:ln>
        </p:spPr>
        <p:txBody>
          <a:bodyPr wrap="square" rtlCol="0">
            <a:spAutoFit/>
          </a:bodyPr>
          <a:lstStyle/>
          <a:p>
            <a:r>
              <a:rPr lang="en-US" sz="2400" b="1" dirty="0" smtClean="0"/>
              <a:t>Project Tile – </a:t>
            </a:r>
            <a:r>
              <a:rPr lang="en-US" sz="2400" b="1" dirty="0"/>
              <a:t>Agentic AI for Mental Health Awareness &amp; Suicide Prevention</a:t>
            </a:r>
            <a:endParaRPr lang="en-IN" sz="2400"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8607" y="3683879"/>
            <a:ext cx="980515" cy="10204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770537"/>
          </a:xfrm>
          <a:prstGeom prst="rect">
            <a:avLst/>
          </a:prstGeom>
          <a:noFill/>
        </p:spPr>
        <p:txBody>
          <a:bodyPr wrap="square" rtlCol="0">
            <a:spAutoFit/>
          </a:bodyPr>
          <a:lstStyle/>
          <a:p>
            <a:pPr fontAlgn="base"/>
            <a:r>
              <a:rPr lang="en-US" sz="1600" b="1" dirty="0" smtClean="0"/>
              <a:t>The </a:t>
            </a:r>
            <a:r>
              <a:rPr lang="en-US" sz="1600" b="1" dirty="0"/>
              <a:t>Challenge</a:t>
            </a:r>
            <a:r>
              <a:rPr lang="en-US" sz="1600" dirty="0"/>
              <a:t> </a:t>
            </a:r>
          </a:p>
          <a:p>
            <a:pPr fontAlgn="base"/>
            <a:r>
              <a:rPr lang="en-US" sz="1600"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r>
              <a:rPr lang="en-US" sz="1600" dirty="0"/>
              <a:t> </a:t>
            </a:r>
          </a:p>
          <a:p>
            <a:pPr fontAlgn="base"/>
            <a:endParaRPr lang="en-US" sz="1600" dirty="0"/>
          </a:p>
          <a:p>
            <a:pPr fontAlgn="base"/>
            <a:r>
              <a:rPr lang="en-US" sz="1600" b="1" dirty="0"/>
              <a:t>The Objective</a:t>
            </a:r>
            <a:r>
              <a:rPr lang="en-US" sz="1600" dirty="0"/>
              <a:t> </a:t>
            </a:r>
          </a:p>
          <a:p>
            <a:pPr fontAlgn="base"/>
            <a:r>
              <a:rPr lang="en-US" sz="1600" dirty="0"/>
              <a:t>Build an Agentic AI-powered Mental Health Awareness &amp; Suicide Prevention Agent that is empathetic, proactive, and safe. The solution should</a:t>
            </a:r>
            <a:r>
              <a:rPr lang="en-US" sz="1600" dirty="0" smtClean="0"/>
              <a:t>:</a:t>
            </a:r>
            <a:r>
              <a:rPr lang="en-US" sz="1600" dirty="0"/>
              <a:t> </a:t>
            </a:r>
          </a:p>
          <a:p>
            <a:pPr marL="285750" indent="-285750">
              <a:buFont typeface="Arial" panose="020B0604020202020204" pitchFamily="34" charset="0"/>
              <a:buChar char="•"/>
            </a:pPr>
            <a:r>
              <a:rPr lang="en-US" sz="1600" b="1" dirty="0" smtClean="0"/>
              <a:t>Promote </a:t>
            </a:r>
            <a:r>
              <a:rPr lang="en-US" sz="1600" b="1" dirty="0"/>
              <a:t>Awareness &amp; Education </a:t>
            </a:r>
            <a:r>
              <a:rPr lang="en-US" sz="1600" dirty="0"/>
              <a:t>– Share accessible resources on mindfulness, coping strategies, and self-care. </a:t>
            </a:r>
          </a:p>
          <a:p>
            <a:pPr marL="285750" indent="-285750">
              <a:buFont typeface="Arial" panose="020B0604020202020204" pitchFamily="34" charset="0"/>
              <a:buChar char="•"/>
            </a:pPr>
            <a:r>
              <a:rPr lang="en-US" sz="1600" b="1" dirty="0"/>
              <a:t>Enable Early Detection (RAG) </a:t>
            </a:r>
            <a:r>
              <a:rPr lang="en-US" sz="1600" dirty="0"/>
              <a:t>– Use Retrieval-Augmented Generation to identify distress signals in conversations, journaling inputs, or safe online data. </a:t>
            </a:r>
          </a:p>
          <a:p>
            <a:pPr marL="285750" indent="-285750">
              <a:buFont typeface="Arial" panose="020B0604020202020204" pitchFamily="34" charset="0"/>
              <a:buChar char="•"/>
            </a:pPr>
            <a:r>
              <a:rPr lang="en-US" sz="1600" b="1" dirty="0"/>
              <a:t>Provide Empathetic Support – </a:t>
            </a:r>
            <a:r>
              <a:rPr lang="en-US" sz="1600" dirty="0"/>
              <a:t>Build a conversational agent that listens actively and responds with empathy (with clear disclaimers: not a substitute for professional medical advice). </a:t>
            </a:r>
          </a:p>
          <a:p>
            <a:pPr marL="285750" indent="-285750">
              <a:buFont typeface="Arial" panose="020B0604020202020204" pitchFamily="34" charset="0"/>
              <a:buChar char="•"/>
            </a:pPr>
            <a:r>
              <a:rPr lang="en-US" sz="1600" b="1" dirty="0"/>
              <a:t>Predict &amp; Prevent Risks – </a:t>
            </a:r>
            <a:r>
              <a:rPr lang="en-US" sz="1600" dirty="0"/>
              <a:t>Forecast stress peaks, suggest preventive strategies, and issue alerts when high-risk signals are detected (with consent). </a:t>
            </a:r>
          </a:p>
          <a:p>
            <a:pPr marL="285750" indent="-285750">
              <a:buFont typeface="Arial" panose="020B0604020202020204" pitchFamily="34" charset="0"/>
              <a:buChar char="•"/>
            </a:pPr>
            <a:r>
              <a:rPr lang="en-US" sz="1600" b="1" dirty="0"/>
              <a:t>Connect to Human Support – </a:t>
            </a:r>
            <a:r>
              <a:rPr lang="en-US" sz="1600" dirty="0"/>
              <a:t>Link users to helplines, counselors, or community support for timely intervention. </a:t>
            </a:r>
          </a:p>
          <a:p>
            <a:pPr fontAlgn="base"/>
            <a:endParaRPr lang="en-US" sz="1600" dirty="0"/>
          </a:p>
          <a:p>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65547"/>
            <a:ext cx="11283136" cy="830997"/>
          </a:xfrm>
          <a:prstGeom prst="rect">
            <a:avLst/>
          </a:prstGeom>
          <a:noFill/>
        </p:spPr>
        <p:txBody>
          <a:bodyPr wrap="square" rtlCol="0">
            <a:spAutoFit/>
          </a:bodyPr>
          <a:lstStyle/>
          <a:p>
            <a:pPr fontAlgn="base"/>
            <a:r>
              <a:rPr lang="en-US" sz="2400" b="1" dirty="0"/>
              <a:t>Problem Statement </a:t>
            </a:r>
            <a:r>
              <a:rPr lang="en-US" sz="2400" b="1" dirty="0"/>
              <a:t>-Agentic AI for Mental Health Awareness &amp; Suicide </a:t>
            </a:r>
            <a:r>
              <a:rPr lang="en-US" sz="2400" b="1" dirty="0" smtClean="0"/>
              <a:t>Prevention</a:t>
            </a:r>
            <a:endParaRPr lang="en-US"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t>LangFlow</a:t>
            </a:r>
            <a:r>
              <a:rPr lang="en-IN" dirty="0"/>
              <a:t> + IBM watsonx.ai + Granite Models</a:t>
            </a:r>
            <a:r>
              <a:rPr lang="en-IN" dirty="0">
                <a:highlight>
                  <a:srgbClr val="FFFF00"/>
                </a:highlight>
              </a:rPr>
              <a:t>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1" y="1234440"/>
            <a:ext cx="11180499" cy="5693866"/>
          </a:xfrm>
          <a:prstGeom prst="rect">
            <a:avLst/>
          </a:prstGeom>
          <a:noFill/>
        </p:spPr>
        <p:txBody>
          <a:bodyPr wrap="square" rtlCol="0">
            <a:spAutoFit/>
          </a:bodyPr>
          <a:lstStyle/>
          <a:p>
            <a:pPr fontAlgn="base"/>
            <a:endParaRPr lang="en-US" b="1" dirty="0"/>
          </a:p>
          <a:p>
            <a:r>
              <a:rPr lang="en-US" b="1" dirty="0"/>
              <a:t>Proposed Solution: </a:t>
            </a:r>
            <a:r>
              <a:rPr lang="en-US" b="1" dirty="0"/>
              <a:t>Agentic AI for Mental Health Awareness and Suicide </a:t>
            </a:r>
            <a:r>
              <a:rPr lang="en-US" b="1" dirty="0" smtClean="0"/>
              <a:t>Prevention</a:t>
            </a:r>
          </a:p>
          <a:p>
            <a:pPr algn="just"/>
            <a:r>
              <a:rPr lang="en-US" dirty="0" smtClean="0"/>
              <a:t>The proposed solution is a </a:t>
            </a:r>
            <a:r>
              <a:rPr lang="en-US" b="1" dirty="0" smtClean="0"/>
              <a:t>multi-agent AI-powered Mental Health Awareness and Suicide Prevention System</a:t>
            </a:r>
            <a:r>
              <a:rPr lang="en-US" dirty="0" smtClean="0"/>
              <a:t> built using </a:t>
            </a:r>
            <a:r>
              <a:rPr lang="en-US" b="1" dirty="0" err="1" smtClean="0"/>
              <a:t>LangFlow</a:t>
            </a:r>
            <a:r>
              <a:rPr lang="en-US" b="1" dirty="0" smtClean="0"/>
              <a:t>, IBM watsonx.ai, and Granite Models</a:t>
            </a:r>
            <a:r>
              <a:rPr lang="en-US" dirty="0" smtClean="0"/>
              <a:t> to provide personalized, proactive, and real-time mental health support. The system addresses critical challenges in mental health awareness, emotional well-being monitoring, early suicide risk detection, and timely intervention through an intelligent, modular architecture.</a:t>
            </a:r>
          </a:p>
          <a:p>
            <a:pPr algn="just"/>
            <a:r>
              <a:rPr lang="en-US" dirty="0" smtClean="0"/>
              <a:t>At </a:t>
            </a:r>
            <a:r>
              <a:rPr lang="en-US" dirty="0"/>
              <a:t>its core, the solution utilizes a </a:t>
            </a:r>
            <a:r>
              <a:rPr lang="en-US" b="1" dirty="0"/>
              <a:t>Retrieval-Augmented Generation (RAG) pipeline</a:t>
            </a:r>
            <a:r>
              <a:rPr lang="en-US" dirty="0"/>
              <a:t> to access reliable mental health knowledge from trusted sources such as the </a:t>
            </a:r>
            <a:r>
              <a:rPr lang="en-US" b="1" dirty="0"/>
              <a:t>World Health Organization (WHO), National Institute of Mental Health (NIMH), Centers for Disease Control and Prevention (CDC), and validated psychological wellness resources</a:t>
            </a:r>
            <a:r>
              <a:rPr lang="en-US" dirty="0"/>
              <a:t>. This information is embedded and stored in a vector database, enabling the system to retrieve and generate accurate, context-aware responses related to mental health conditions, coping mechanisms, crisis support, and preventive care using Granite models.</a:t>
            </a:r>
          </a:p>
          <a:p>
            <a:r>
              <a:rPr lang="en-US" dirty="0" smtClean="0"/>
              <a:t>The </a:t>
            </a:r>
            <a:r>
              <a:rPr lang="en-US" dirty="0"/>
              <a:t>system consists of four key agents:</a:t>
            </a:r>
          </a:p>
          <a:p>
            <a:r>
              <a:rPr lang="en-US" b="1" dirty="0"/>
              <a:t>1. Mental Health Knowledge Agent</a:t>
            </a:r>
          </a:p>
          <a:p>
            <a:r>
              <a:rPr lang="en-US" dirty="0"/>
              <a:t>Retrieves and summarizes evidence-based mental health information using RAG. </a:t>
            </a:r>
            <a:endParaRPr lang="en-US" dirty="0" smtClean="0"/>
          </a:p>
          <a:p>
            <a:r>
              <a:rPr lang="en-US" b="1" dirty="0" smtClean="0"/>
              <a:t>2</a:t>
            </a:r>
            <a:r>
              <a:rPr lang="en-US" b="1" dirty="0"/>
              <a:t>. Emotional Assessment Agent</a:t>
            </a:r>
          </a:p>
          <a:p>
            <a:r>
              <a:rPr lang="en-US" dirty="0" smtClean="0"/>
              <a:t>Detects </a:t>
            </a:r>
            <a:r>
              <a:rPr lang="en-US" dirty="0"/>
              <a:t>emotional states such as stress, anxiety, loneliness, hopelessness, sadness, or emotional distress. </a:t>
            </a:r>
          </a:p>
          <a:p>
            <a:r>
              <a:rPr lang="en-US" dirty="0"/>
              <a:t>Continuously monitors behavioral and emotional patterns to identify early warning signs. </a:t>
            </a:r>
          </a:p>
          <a:p>
            <a:r>
              <a:rPr lang="en-US" b="1" dirty="0"/>
              <a:t>3. Personalized Support &amp; Recommendation Agent</a:t>
            </a:r>
          </a:p>
          <a:p>
            <a:r>
              <a:rPr lang="en-US" dirty="0"/>
              <a:t>Generates personalized wellness plans based on user emotional status, age group, lifestyle, and mental health needs. </a:t>
            </a:r>
          </a:p>
          <a:p>
            <a:r>
              <a:rPr lang="en-US" b="1" dirty="0" smtClean="0"/>
              <a:t>4</a:t>
            </a:r>
            <a:r>
              <a:rPr lang="en-US" b="1" dirty="0"/>
              <a:t>. Suicide Risk Detection &amp; Crisis Intervention Agent</a:t>
            </a:r>
          </a:p>
          <a:p>
            <a:r>
              <a:rPr lang="en-US" dirty="0" smtClean="0"/>
              <a:t>Performs </a:t>
            </a:r>
            <a:r>
              <a:rPr lang="en-US" dirty="0"/>
              <a:t>risk assessment and classifies users into Low, Moderate, High, or Critical risk categories. </a:t>
            </a:r>
          </a:p>
          <a:p>
            <a:pPr algn="just"/>
            <a:r>
              <a:rPr lang="en-US" b="1" dirty="0" err="1" smtClean="0"/>
              <a:t>LangFlow</a:t>
            </a:r>
            <a:r>
              <a:rPr lang="en-US" dirty="0" smtClean="0"/>
              <a:t> </a:t>
            </a:r>
            <a:r>
              <a:rPr lang="en-US" dirty="0"/>
              <a:t>is used to orchestrate agent workflows and manage inter-agent communication, while </a:t>
            </a:r>
            <a:r>
              <a:rPr lang="en-US" b="1" dirty="0"/>
              <a:t>IBM watsonx.ai</a:t>
            </a:r>
            <a:r>
              <a:rPr lang="en-US" dirty="0"/>
              <a:t> provides scalable model deployment, </a:t>
            </a:r>
            <a:r>
              <a:rPr lang="en-US" dirty="0" err="1"/>
              <a:t>embeddings</a:t>
            </a:r>
            <a:r>
              <a:rPr lang="en-US" dirty="0"/>
              <a:t>, governance, security, and responsible AI capabilities. </a:t>
            </a:r>
            <a:r>
              <a:rPr lang="en-US" b="1" dirty="0"/>
              <a:t>Granite Models</a:t>
            </a:r>
            <a:r>
              <a:rPr lang="en-US" dirty="0"/>
              <a:t> power advanced reasoning, sentiment understanding, emotional analysis, summarization, and personalized support generation.</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11141790" cy="4616648"/>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b="1" dirty="0"/>
          </a:p>
          <a:p>
            <a:r>
              <a:rPr lang="en-US" b="1" dirty="0"/>
              <a:t>5) File component - </a:t>
            </a:r>
            <a:r>
              <a:rPr lang="en-US" dirty="0"/>
              <a:t>Stores and retrieves user interactions, emotional wellness records, mood logs, mental health assessments, crisis intervention history, and trusted mental health knowledge datasets for analysis, monitoring, and personalized support</a:t>
            </a:r>
            <a:r>
              <a:rPr lang="en-US" dirty="0" smtClean="0"/>
              <a:t>.</a:t>
            </a:r>
            <a:endParaRPr lang="en-US" dirty="0">
              <a:highlight>
                <a:srgbClr val="FFFF00"/>
              </a:highlight>
            </a:endParaRPr>
          </a:p>
          <a:p>
            <a:endParaRPr lang="en-US" dirty="0"/>
          </a:p>
          <a:p>
            <a:endParaRPr lang="en-US" dirty="0"/>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p:cNvPicPr>
            <a:picLocks noChangeAspect="1"/>
          </p:cNvPicPr>
          <p:nvPr/>
        </p:nvPicPr>
        <p:blipFill>
          <a:blip r:embed="rId3"/>
          <a:stretch>
            <a:fillRect/>
          </a:stretch>
        </p:blipFill>
        <p:spPr>
          <a:xfrm>
            <a:off x="537590" y="1003365"/>
            <a:ext cx="11027528" cy="514550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 name="Rectangle 1"/>
          <p:cNvSpPr/>
          <p:nvPr/>
        </p:nvSpPr>
        <p:spPr>
          <a:xfrm>
            <a:off x="4377420" y="3275112"/>
            <a:ext cx="3437159" cy="307777"/>
          </a:xfrm>
          <a:prstGeom prst="rect">
            <a:avLst/>
          </a:prstGeom>
        </p:spPr>
        <p:txBody>
          <a:bodyPr wrap="none">
            <a:spAutoFit/>
          </a:bodyPr>
          <a:lstStyle/>
          <a:p>
            <a:r>
              <a:rPr lang="en-IN"/>
              <a:t>https://github.com/deven215/Langflow.git</a:t>
            </a: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1200</TotalTime>
  <Words>1115</Words>
  <Application>Microsoft Office PowerPoint</Application>
  <PresentationFormat>Widescreen</PresentationFormat>
  <Paragraphs>121</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CHARUSAT</cp:lastModifiedBy>
  <cp:revision>47</cp:revision>
  <dcterms:created xsi:type="dcterms:W3CDTF">2025-07-08T05:06:56Z</dcterms:created>
  <dcterms:modified xsi:type="dcterms:W3CDTF">2026-06-09T16:19:57Z</dcterms:modified>
</cp:coreProperties>
</file>