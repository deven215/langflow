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87" r:id="rId9"/>
    <p:sldId id="262" r:id="rId10"/>
    <p:sldId id="264" r:id="rId11"/>
    <p:sldId id="278"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2652131"/>
            <a:ext cx="10515600" cy="2852737"/>
          </a:xfrm>
        </p:spPr>
        <p:txBody>
          <a:bodyPr>
            <a:normAutofit fontScale="90000"/>
          </a:bodyPr>
          <a:lstStyle/>
          <a:p>
            <a:pPr algn="ctr"/>
            <a:r>
              <a:rPr lang="en-US" sz="6600" b="1" dirty="0">
                <a:latin typeface="Cambria" panose="02040503050406030204" pitchFamily="18" charset="0"/>
                <a:ea typeface="Cambria" panose="02040503050406030204" pitchFamily="18" charset="0"/>
              </a:rPr>
              <a:t>IBM University Engagement Project </a:t>
            </a:r>
            <a:r>
              <a:rPr lang="en-US" sz="6600" b="1" dirty="0" smtClean="0">
                <a:latin typeface="Cambria" panose="02040503050406030204" pitchFamily="18" charset="0"/>
                <a:ea typeface="Cambria" panose="02040503050406030204" pitchFamily="18" charset="0"/>
              </a:rPr>
              <a:t>Submission</a:t>
            </a:r>
            <a:br>
              <a:rPr lang="en-US" sz="6600" b="1" dirty="0" smtClean="0">
                <a:latin typeface="Cambria" panose="02040503050406030204" pitchFamily="18" charset="0"/>
                <a:ea typeface="Cambria" panose="02040503050406030204" pitchFamily="18" charset="0"/>
              </a:rPr>
            </a:br>
            <a:r>
              <a:rPr lang="en-US" sz="6600" b="1" dirty="0" smtClean="0">
                <a:latin typeface="Cambria" panose="02040503050406030204" pitchFamily="18" charset="0"/>
                <a:ea typeface="Cambria" panose="02040503050406030204" pitchFamily="18" charset="0"/>
              </a:rPr>
              <a:t/>
            </a:r>
            <a:br>
              <a:rPr lang="en-US" sz="6600" b="1" dirty="0" smtClean="0">
                <a:latin typeface="Cambria" panose="02040503050406030204" pitchFamily="18" charset="0"/>
                <a:ea typeface="Cambria" panose="02040503050406030204" pitchFamily="18" charset="0"/>
              </a:rPr>
            </a:br>
            <a:r>
              <a:rPr lang="en-US" sz="2700" b="1" i="1" dirty="0">
                <a:latin typeface="Cambria" panose="02040503050406030204" pitchFamily="18" charset="0"/>
                <a:ea typeface="Cambria" panose="02040503050406030204" pitchFamily="18" charset="0"/>
              </a:rPr>
              <a:t>“Exploring the Power of Agentic AI with IBM Granite and </a:t>
            </a:r>
            <a:r>
              <a:rPr lang="en-US" sz="2700" b="1" i="1" dirty="0" err="1">
                <a:latin typeface="Cambria" panose="02040503050406030204" pitchFamily="18" charset="0"/>
                <a:ea typeface="Cambria" panose="02040503050406030204" pitchFamily="18" charset="0"/>
              </a:rPr>
              <a:t>LangFlow</a:t>
            </a:r>
            <a:r>
              <a:rPr lang="en-US" sz="2700" b="1" i="1" dirty="0">
                <a:latin typeface="Cambria" panose="02040503050406030204" pitchFamily="18" charset="0"/>
                <a:ea typeface="Cambria" panose="02040503050406030204" pitchFamily="18" charset="0"/>
              </a:rPr>
              <a:t>”</a:t>
            </a:r>
            <a:br>
              <a:rPr lang="en-US" sz="2700" b="1" i="1" dirty="0">
                <a:latin typeface="Cambria" panose="02040503050406030204" pitchFamily="18" charset="0"/>
                <a:ea typeface="Cambria" panose="02040503050406030204" pitchFamily="18" charset="0"/>
              </a:rPr>
            </a:br>
            <a:r>
              <a:rPr lang="en-US" b="1" dirty="0">
                <a:latin typeface="Cambria" panose="02040503050406030204" pitchFamily="18" charset="0"/>
                <a:ea typeface="Cambria" panose="02040503050406030204" pitchFamily="18" charset="0"/>
              </a:rPr>
              <a:t/>
            </a:r>
            <a:br>
              <a:rPr lang="en-US" b="1" dirty="0">
                <a:latin typeface="Cambria" panose="02040503050406030204" pitchFamily="18" charset="0"/>
                <a:ea typeface="Cambria" panose="02040503050406030204" pitchFamily="18" charset="0"/>
              </a:rPr>
            </a:br>
            <a:endParaRPr lang="en-IN"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4631451"/>
            <a:ext cx="10515600" cy="1500187"/>
          </a:xfrm>
        </p:spPr>
        <p:txBody>
          <a:bodyPr>
            <a:normAutofit/>
          </a:bodyPr>
          <a:lstStyle/>
          <a:p>
            <a:pPr algn="r"/>
            <a:endParaRPr lang="en-US" b="1" i="1" dirty="0" smtClean="0">
              <a:latin typeface="Cambria" panose="02040503050406030204" pitchFamily="18" charset="0"/>
              <a:ea typeface="Cambria" panose="02040503050406030204" pitchFamily="18" charset="0"/>
            </a:endParaRPr>
          </a:p>
          <a:p>
            <a:pPr algn="r"/>
            <a:r>
              <a:rPr lang="en-US" b="1" i="1" dirty="0" smtClean="0">
                <a:solidFill>
                  <a:srgbClr val="C00000"/>
                </a:solidFill>
                <a:latin typeface="Cambria" panose="02040503050406030204" pitchFamily="18" charset="0"/>
                <a:ea typeface="Cambria" panose="02040503050406030204" pitchFamily="18" charset="0"/>
              </a:rPr>
              <a:t>By: </a:t>
            </a:r>
            <a:r>
              <a:rPr lang="en-US" b="1" i="1" dirty="0" err="1" smtClean="0">
                <a:solidFill>
                  <a:srgbClr val="C00000"/>
                </a:solidFill>
                <a:latin typeface="Cambria" panose="02040503050406030204" pitchFamily="18" charset="0"/>
                <a:ea typeface="Cambria" panose="02040503050406030204" pitchFamily="18" charset="0"/>
              </a:rPr>
              <a:t>Deven</a:t>
            </a:r>
            <a:r>
              <a:rPr lang="en-US" b="1" i="1" dirty="0" smtClean="0">
                <a:solidFill>
                  <a:srgbClr val="C00000"/>
                </a:solidFill>
                <a:latin typeface="Cambria" panose="02040503050406030204" pitchFamily="18" charset="0"/>
                <a:ea typeface="Cambria" panose="02040503050406030204" pitchFamily="18" charset="0"/>
              </a:rPr>
              <a:t> A </a:t>
            </a:r>
            <a:r>
              <a:rPr lang="en-US" b="1" i="1" dirty="0" err="1" smtClean="0">
                <a:solidFill>
                  <a:srgbClr val="C00000"/>
                </a:solidFill>
                <a:latin typeface="Cambria" panose="02040503050406030204" pitchFamily="18" charset="0"/>
                <a:ea typeface="Cambria" panose="02040503050406030204" pitchFamily="18" charset="0"/>
              </a:rPr>
              <a:t>Gol</a:t>
            </a:r>
            <a:endParaRPr lang="en-US" b="1" i="1" dirty="0" smtClean="0">
              <a:solidFill>
                <a:srgbClr val="C00000"/>
              </a:solidFill>
              <a:latin typeface="Cambria" panose="02040503050406030204" pitchFamily="18" charset="0"/>
              <a:ea typeface="Cambria" panose="02040503050406030204" pitchFamily="18" charset="0"/>
            </a:endParaRPr>
          </a:p>
          <a:p>
            <a:pPr algn="ct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575646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9649781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latin typeface="Cambria" panose="02040503050406030204" pitchFamily="18" charset="0"/>
                          <a:ea typeface="Cambria" panose="02040503050406030204" pitchFamily="18" charset="0"/>
                        </a:rPr>
                        <a:t>Student Name</a:t>
                      </a: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latin typeface="Cambria" panose="02040503050406030204" pitchFamily="18" charset="0"/>
                          <a:ea typeface="Cambria" panose="02040503050406030204" pitchFamily="18" charset="0"/>
                        </a:rPr>
                        <a:t>Recent Passport Photo</a:t>
                      </a:r>
                      <a:endParaRPr sz="1800" u="none" strike="noStrike" cap="none" dirty="0">
                        <a:latin typeface="Cambria" panose="02040503050406030204" pitchFamily="18" charset="0"/>
                        <a:ea typeface="Cambria" panose="02040503050406030204" pitchFamily="18" charset="0"/>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mbria" panose="02040503050406030204" pitchFamily="18" charset="0"/>
                          <a:ea typeface="Cambria" panose="02040503050406030204" pitchFamily="18" charset="0"/>
                          <a:cs typeface="Arial"/>
                          <a:sym typeface="Calibri"/>
                        </a:rPr>
                        <a:t>Email ID </a:t>
                      </a:r>
                      <a:endParaRPr sz="1800" b="0" i="0" u="none" strike="noStrike" cap="none" dirty="0">
                        <a:solidFill>
                          <a:srgbClr val="000000"/>
                        </a:solidFill>
                        <a:latin typeface="Cambria" panose="02040503050406030204" pitchFamily="18" charset="0"/>
                        <a:ea typeface="Cambria" panose="02040503050406030204" pitchFamily="18" charset="0"/>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Cambria" panose="02040503050406030204" pitchFamily="18" charset="0"/>
                          <a:ea typeface="Cambria" panose="02040503050406030204" pitchFamily="18" charset="0"/>
                          <a:cs typeface="Arial"/>
                          <a:sym typeface="Calibri"/>
                        </a:rPr>
                        <a:t>Mobile number</a:t>
                      </a:r>
                      <a:endParaRPr sz="1800" b="0" i="0" u="none" strike="noStrike" cap="none" dirty="0">
                        <a:solidFill>
                          <a:srgbClr val="000000"/>
                        </a:solidFill>
                        <a:latin typeface="Cambria" panose="02040503050406030204" pitchFamily="18" charset="0"/>
                        <a:ea typeface="Cambria" panose="02040503050406030204" pitchFamily="18" charset="0"/>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Cambria" panose="02040503050406030204" pitchFamily="18" charset="0"/>
                          <a:ea typeface="Cambria" panose="02040503050406030204" pitchFamily="18" charset="0"/>
                          <a:cs typeface="Arial"/>
                          <a:sym typeface="Calibri"/>
                        </a:rPr>
                        <a:t>[WhatsApp] </a:t>
                      </a:r>
                      <a:endParaRPr sz="1800" b="0" i="0" u="none" strike="noStrike" cap="none" dirty="0">
                        <a:solidFill>
                          <a:srgbClr val="000000"/>
                        </a:solidFill>
                        <a:latin typeface="Cambria" panose="02040503050406030204" pitchFamily="18" charset="0"/>
                        <a:ea typeface="Cambria" panose="02040503050406030204" pitchFamily="18" charset="0"/>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dirty="0" smtClean="0">
                          <a:latin typeface="Cambria" panose="02040503050406030204" pitchFamily="18" charset="0"/>
                          <a:ea typeface="Cambria" panose="02040503050406030204" pitchFamily="18" charset="0"/>
                        </a:rPr>
                        <a:t>DEVEN GOL</a:t>
                      </a:r>
                      <a:endParaRPr dirty="0">
                        <a:latin typeface="Cambria" panose="02040503050406030204" pitchFamily="18" charset="0"/>
                        <a:ea typeface="Cambria" panose="020405030504060302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dirty="0">
                        <a:latin typeface="Cambria" panose="02040503050406030204" pitchFamily="18" charset="0"/>
                        <a:ea typeface="Cambria" panose="02040503050406030204" pitchFamily="18" charset="0"/>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smtClean="0">
                          <a:latin typeface="Cambria" panose="02040503050406030204" pitchFamily="18" charset="0"/>
                          <a:ea typeface="Cambria" panose="02040503050406030204" pitchFamily="18" charset="0"/>
                        </a:rPr>
                        <a:t>Devengol.dce@charusat.ac.in</a:t>
                      </a:r>
                      <a:endParaRPr dirty="0">
                        <a:latin typeface="Cambria" panose="02040503050406030204" pitchFamily="18" charset="0"/>
                        <a:ea typeface="Cambria" panose="020405030504060302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smtClean="0">
                          <a:latin typeface="Cambria" panose="02040503050406030204" pitchFamily="18" charset="0"/>
                          <a:ea typeface="Cambria" panose="02040503050406030204" pitchFamily="18" charset="0"/>
                        </a:rPr>
                        <a:t>7984792228</a:t>
                      </a:r>
                      <a:endParaRPr dirty="0">
                        <a:latin typeface="Cambria" panose="02040503050406030204" pitchFamily="18" charset="0"/>
                        <a:ea typeface="Cambria" panose="02040503050406030204" pitchFamily="18"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0" y="1543971"/>
            <a:ext cx="12192000" cy="523220"/>
          </a:xfrm>
          <a:prstGeom prst="rect">
            <a:avLst/>
          </a:prstGeom>
          <a:noFill/>
        </p:spPr>
        <p:txBody>
          <a:bodyPr wrap="square" rtlCol="0">
            <a:spAutoFit/>
          </a:bodyPr>
          <a:lstStyle/>
          <a:p>
            <a:pPr algn="ctr"/>
            <a:r>
              <a:rPr lang="en-US" sz="2800" b="1" dirty="0">
                <a:latin typeface="Cambria" panose="02040503050406030204" pitchFamily="18" charset="0"/>
                <a:ea typeface="Cambria" panose="02040503050406030204" pitchFamily="18" charset="0"/>
              </a:rPr>
              <a:t>Domain of  Project – Healthcare</a:t>
            </a:r>
            <a:r>
              <a:rPr lang="en-US" sz="2800" b="1" dirty="0" smtClean="0">
                <a:highlight>
                  <a:srgbClr val="FFFF00"/>
                </a:highlight>
                <a:latin typeface="Cambria" panose="02040503050406030204" pitchFamily="18" charset="0"/>
                <a:ea typeface="Cambria" panose="02040503050406030204" pitchFamily="18" charset="0"/>
              </a:rPr>
              <a:t> </a:t>
            </a:r>
            <a:endParaRPr lang="en-IN" sz="2800" b="1" dirty="0">
              <a:highlight>
                <a:srgbClr val="FFFF00"/>
              </a:highlight>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0" y="423119"/>
            <a:ext cx="12192000" cy="1077218"/>
          </a:xfrm>
          <a:prstGeom prst="rect">
            <a:avLst/>
          </a:prstGeom>
          <a:solidFill>
            <a:schemeClr val="bg1"/>
          </a:solidFill>
          <a:ln>
            <a:solidFill>
              <a:schemeClr val="bg1"/>
            </a:solidFill>
          </a:ln>
        </p:spPr>
        <p:txBody>
          <a:bodyPr wrap="square" rtlCol="0">
            <a:spAutoFit/>
          </a:bodyPr>
          <a:lstStyle/>
          <a:p>
            <a:r>
              <a:rPr lang="en-US" sz="3200" b="1" dirty="0" smtClean="0">
                <a:latin typeface="Cambria" panose="02040503050406030204" pitchFamily="18" charset="0"/>
                <a:ea typeface="Cambria" panose="02040503050406030204" pitchFamily="18" charset="0"/>
              </a:rPr>
              <a:t>Project Tile – </a:t>
            </a:r>
            <a:r>
              <a:rPr lang="en-US" sz="3200" b="1" dirty="0">
                <a:latin typeface="Cambria" panose="02040503050406030204" pitchFamily="18" charset="0"/>
                <a:ea typeface="Cambria" panose="02040503050406030204" pitchFamily="18" charset="0"/>
              </a:rPr>
              <a:t>Agentic AI for Mental Health Awareness &amp; Suicide Prevention</a:t>
            </a:r>
            <a:endParaRPr lang="en-IN" sz="3200" b="1" dirty="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8607" y="3683879"/>
            <a:ext cx="980515" cy="102042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0" y="1263013"/>
            <a:ext cx="12192000" cy="6247864"/>
          </a:xfrm>
          <a:prstGeom prst="rect">
            <a:avLst/>
          </a:prstGeom>
          <a:noFill/>
        </p:spPr>
        <p:txBody>
          <a:bodyPr wrap="square" rtlCol="0">
            <a:spAutoFit/>
          </a:bodyPr>
          <a:lstStyle/>
          <a:p>
            <a:pPr algn="just" fontAlgn="base"/>
            <a:r>
              <a:rPr lang="en-US" sz="2000" b="1" dirty="0" smtClean="0">
                <a:solidFill>
                  <a:srgbClr val="C00000"/>
                </a:solidFill>
                <a:latin typeface="Cambria" panose="02040503050406030204" pitchFamily="18" charset="0"/>
                <a:ea typeface="Cambria" panose="02040503050406030204" pitchFamily="18" charset="0"/>
              </a:rPr>
              <a:t>The </a:t>
            </a:r>
            <a:r>
              <a:rPr lang="en-US" sz="2000" b="1" dirty="0">
                <a:solidFill>
                  <a:srgbClr val="C00000"/>
                </a:solidFill>
                <a:latin typeface="Cambria" panose="02040503050406030204" pitchFamily="18" charset="0"/>
                <a:ea typeface="Cambria" panose="02040503050406030204" pitchFamily="18" charset="0"/>
              </a:rPr>
              <a:t>Challenge</a:t>
            </a:r>
            <a:r>
              <a:rPr lang="en-US" sz="2000" dirty="0">
                <a:solidFill>
                  <a:srgbClr val="C00000"/>
                </a:solidFill>
                <a:latin typeface="Cambria" panose="02040503050406030204" pitchFamily="18" charset="0"/>
                <a:ea typeface="Cambria" panose="02040503050406030204" pitchFamily="18" charset="0"/>
              </a:rPr>
              <a:t> </a:t>
            </a:r>
          </a:p>
          <a:p>
            <a:pPr algn="just" fontAlgn="base"/>
            <a:r>
              <a:rPr lang="en-US" sz="2000" dirty="0">
                <a:latin typeface="Cambria" panose="02040503050406030204" pitchFamily="18" charset="0"/>
                <a:ea typeface="Cambria" panose="02040503050406030204" pitchFamily="18" charset="0"/>
              </a:rPr>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 </a:t>
            </a:r>
          </a:p>
          <a:p>
            <a:pPr algn="just" fontAlgn="base"/>
            <a:endParaRPr lang="en-US" sz="2000" dirty="0">
              <a:latin typeface="Cambria" panose="02040503050406030204" pitchFamily="18" charset="0"/>
              <a:ea typeface="Cambria" panose="02040503050406030204" pitchFamily="18" charset="0"/>
            </a:endParaRPr>
          </a:p>
          <a:p>
            <a:pPr algn="just" fontAlgn="base"/>
            <a:r>
              <a:rPr lang="en-US" sz="2000" b="1" dirty="0">
                <a:solidFill>
                  <a:srgbClr val="C00000"/>
                </a:solidFill>
                <a:latin typeface="Cambria" panose="02040503050406030204" pitchFamily="18" charset="0"/>
                <a:ea typeface="Cambria" panose="02040503050406030204" pitchFamily="18" charset="0"/>
              </a:rPr>
              <a:t>The Objective</a:t>
            </a:r>
            <a:r>
              <a:rPr lang="en-US" sz="2000" dirty="0">
                <a:latin typeface="Cambria" panose="02040503050406030204" pitchFamily="18" charset="0"/>
                <a:ea typeface="Cambria" panose="02040503050406030204" pitchFamily="18" charset="0"/>
              </a:rPr>
              <a:t> </a:t>
            </a:r>
          </a:p>
          <a:p>
            <a:pPr algn="just" fontAlgn="base"/>
            <a:r>
              <a:rPr lang="en-US" sz="2000" dirty="0">
                <a:latin typeface="Cambria" panose="02040503050406030204" pitchFamily="18" charset="0"/>
                <a:ea typeface="Cambria" panose="02040503050406030204" pitchFamily="18" charset="0"/>
              </a:rPr>
              <a:t>Build an Agentic AI-powered Mental Health Awareness &amp; Suicide Prevention Agent that is empathetic, proactive, and safe. The solution should</a:t>
            </a:r>
            <a:r>
              <a:rPr lang="en-US" sz="2000" dirty="0" smtClean="0">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a:t>
            </a:r>
          </a:p>
          <a:p>
            <a:pPr marL="285750" indent="-285750" algn="just">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Promote </a:t>
            </a:r>
            <a:r>
              <a:rPr lang="en-US" sz="2000" b="1" dirty="0">
                <a:latin typeface="Cambria" panose="02040503050406030204" pitchFamily="18" charset="0"/>
                <a:ea typeface="Cambria" panose="02040503050406030204" pitchFamily="18" charset="0"/>
              </a:rPr>
              <a:t>Awareness &amp; Education </a:t>
            </a:r>
            <a:r>
              <a:rPr lang="en-US" sz="2000" dirty="0">
                <a:latin typeface="Cambria" panose="02040503050406030204" pitchFamily="18" charset="0"/>
                <a:ea typeface="Cambria" panose="02040503050406030204" pitchFamily="18" charset="0"/>
              </a:rPr>
              <a:t>– Share accessible resources on mindfulness, coping strategies, and self-care. </a:t>
            </a:r>
          </a:p>
          <a:p>
            <a:pPr marL="285750" indent="-285750"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Enable Early Detection (RAG) </a:t>
            </a:r>
            <a:r>
              <a:rPr lang="en-US" sz="2000" dirty="0">
                <a:latin typeface="Cambria" panose="02040503050406030204" pitchFamily="18" charset="0"/>
                <a:ea typeface="Cambria" panose="02040503050406030204" pitchFamily="18" charset="0"/>
              </a:rPr>
              <a:t>– Use Retrieval-Augmented Generation to identify distress signals in conversations, journaling inputs, or safe online data. </a:t>
            </a:r>
          </a:p>
          <a:p>
            <a:pPr marL="285750" indent="-285750"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Provide Empathetic Support – </a:t>
            </a:r>
            <a:r>
              <a:rPr lang="en-US" sz="2000" dirty="0">
                <a:latin typeface="Cambria" panose="02040503050406030204" pitchFamily="18" charset="0"/>
                <a:ea typeface="Cambria" panose="02040503050406030204" pitchFamily="18" charset="0"/>
              </a:rPr>
              <a:t>Build a conversational agent that listens actively and responds with empathy (with clear disclaimers: not a substitute for professional medical advice). </a:t>
            </a:r>
          </a:p>
          <a:p>
            <a:pPr marL="285750" indent="-285750"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Predict &amp; Prevent Risks – </a:t>
            </a:r>
            <a:r>
              <a:rPr lang="en-US" sz="2000" dirty="0">
                <a:latin typeface="Cambria" panose="02040503050406030204" pitchFamily="18" charset="0"/>
                <a:ea typeface="Cambria" panose="02040503050406030204" pitchFamily="18" charset="0"/>
              </a:rPr>
              <a:t>Forecast stress peaks, suggest preventive strategies, and issue alerts when high-risk signals are detected (with consent). </a:t>
            </a:r>
          </a:p>
          <a:p>
            <a:pPr marL="285750" indent="-285750"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Connect to Human Support – </a:t>
            </a:r>
            <a:r>
              <a:rPr lang="en-US" sz="2000" dirty="0">
                <a:latin typeface="Cambria" panose="02040503050406030204" pitchFamily="18" charset="0"/>
                <a:ea typeface="Cambria" panose="02040503050406030204" pitchFamily="18" charset="0"/>
              </a:rPr>
              <a:t>Link users to helplines, counselors, or community support for timely intervention. </a:t>
            </a:r>
          </a:p>
          <a:p>
            <a:pPr algn="just" fontAlgn="base"/>
            <a:endParaRPr lang="en-US" sz="2000" dirty="0">
              <a:latin typeface="Cambria" panose="02040503050406030204" pitchFamily="18" charset="0"/>
              <a:ea typeface="Cambria" panose="02040503050406030204" pitchFamily="18" charset="0"/>
            </a:endParaRPr>
          </a:p>
          <a:p>
            <a:pPr algn="just"/>
            <a:endParaRPr lang="en-IN" sz="2000"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3847FA31-EA47-D27A-9D69-AF50A3080AEC}"/>
              </a:ext>
            </a:extLst>
          </p:cNvPr>
          <p:cNvSpPr txBox="1"/>
          <p:nvPr/>
        </p:nvSpPr>
        <p:spPr>
          <a:xfrm>
            <a:off x="0" y="265547"/>
            <a:ext cx="12192000" cy="1077218"/>
          </a:xfrm>
          <a:prstGeom prst="rect">
            <a:avLst/>
          </a:prstGeom>
          <a:noFill/>
        </p:spPr>
        <p:txBody>
          <a:bodyPr wrap="square" rtlCol="0">
            <a:spAutoFit/>
          </a:bodyPr>
          <a:lstStyle/>
          <a:p>
            <a:pPr fontAlgn="base"/>
            <a:r>
              <a:rPr lang="en-US" sz="3200" b="1" dirty="0">
                <a:latin typeface="Cambria" panose="02040503050406030204" pitchFamily="18" charset="0"/>
                <a:ea typeface="Cambria" panose="02040503050406030204" pitchFamily="18" charset="0"/>
              </a:rPr>
              <a:t>Problem Statement -Agentic AI for Mental Health Awareness &amp; Suicide </a:t>
            </a:r>
            <a:r>
              <a:rPr lang="en-US" sz="3200" b="1" dirty="0" smtClean="0">
                <a:latin typeface="Cambria" panose="02040503050406030204" pitchFamily="18" charset="0"/>
                <a:ea typeface="Cambria" panose="02040503050406030204" pitchFamily="18" charset="0"/>
              </a:rPr>
              <a:t>Prevention</a:t>
            </a:r>
            <a:endParaRPr lang="en-US" sz="32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525842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0" y="850327"/>
            <a:ext cx="12192000" cy="6247864"/>
          </a:xfrm>
          <a:prstGeom prst="rect">
            <a:avLst/>
          </a:prstGeom>
          <a:noFill/>
        </p:spPr>
        <p:txBody>
          <a:bodyPr wrap="square" rtlCol="0">
            <a:spAutoFit/>
          </a:bodyPr>
          <a:lstStyle/>
          <a:p>
            <a:pPr algn="just" fontAlgn="base"/>
            <a:r>
              <a:rPr lang="en-US" sz="2000" b="1" dirty="0" err="1">
                <a:latin typeface="Cambria" panose="02040503050406030204" pitchFamily="18" charset="0"/>
                <a:ea typeface="Cambria" panose="02040503050406030204" pitchFamily="18" charset="0"/>
              </a:rPr>
              <a:t>LangFlow</a:t>
            </a:r>
            <a:r>
              <a:rPr lang="en-US" sz="2000" b="1" dirty="0">
                <a:latin typeface="Cambria" panose="02040503050406030204" pitchFamily="18" charset="0"/>
                <a:ea typeface="Cambria" panose="02040503050406030204" pitchFamily="18" charset="0"/>
              </a:rPr>
              <a:t> orchestrates the multi-agent workflow, IBM watsonx.ai provides the AI platform, and Granite Models deliver intelligent reasoning, emotion analysis, and personalized mental health support</a:t>
            </a:r>
            <a:r>
              <a:rPr lang="en-US" sz="2000" b="1" dirty="0" smtClean="0">
                <a:latin typeface="Cambria" panose="02040503050406030204" pitchFamily="18" charset="0"/>
                <a:ea typeface="Cambria" panose="02040503050406030204" pitchFamily="18" charset="0"/>
              </a:rPr>
              <a:t>.</a:t>
            </a:r>
          </a:p>
          <a:p>
            <a:pPr algn="just" fontAlgn="base"/>
            <a:endParaRPr lang="en-IN" sz="2000" dirty="0" smtClean="0">
              <a:latin typeface="Cambria" panose="02040503050406030204" pitchFamily="18" charset="0"/>
              <a:ea typeface="Cambria" panose="02040503050406030204" pitchFamily="18" charset="0"/>
            </a:endParaRPr>
          </a:p>
          <a:p>
            <a:pPr algn="ctr" fontAlgn="base"/>
            <a:r>
              <a:rPr lang="en-IN" sz="2000" b="1" dirty="0" smtClean="0">
                <a:solidFill>
                  <a:srgbClr val="C00000"/>
                </a:solidFill>
                <a:latin typeface="Cambria" panose="02040503050406030204" pitchFamily="18" charset="0"/>
                <a:ea typeface="Cambria" panose="02040503050406030204" pitchFamily="18" charset="0"/>
              </a:rPr>
              <a:t>I </a:t>
            </a:r>
            <a:r>
              <a:rPr lang="en-IN" sz="2000" b="1" dirty="0">
                <a:solidFill>
                  <a:srgbClr val="C00000"/>
                </a:solidFill>
                <a:latin typeface="Cambria" panose="02040503050406030204" pitchFamily="18" charset="0"/>
                <a:ea typeface="Cambria" panose="02040503050406030204" pitchFamily="18" charset="0"/>
              </a:rPr>
              <a:t>used </a:t>
            </a:r>
            <a:r>
              <a:rPr lang="en-IN" sz="2000" b="1" dirty="0" err="1">
                <a:solidFill>
                  <a:srgbClr val="C00000"/>
                </a:solidFill>
                <a:latin typeface="Cambria" panose="02040503050406030204" pitchFamily="18" charset="0"/>
                <a:ea typeface="Cambria" panose="02040503050406030204" pitchFamily="18" charset="0"/>
              </a:rPr>
              <a:t>LangFlow</a:t>
            </a:r>
            <a:r>
              <a:rPr lang="en-IN" sz="2000" b="1" dirty="0">
                <a:solidFill>
                  <a:srgbClr val="C00000"/>
                </a:solidFill>
                <a:latin typeface="Cambria" panose="02040503050406030204" pitchFamily="18" charset="0"/>
                <a:ea typeface="Cambria" panose="02040503050406030204" pitchFamily="18" charset="0"/>
              </a:rPr>
              <a:t> + IBM watsonx.ai + Granite Models</a:t>
            </a:r>
            <a:r>
              <a:rPr lang="en-IN" sz="2000" b="1" dirty="0">
                <a:solidFill>
                  <a:srgbClr val="C00000"/>
                </a:solidFill>
                <a:highlight>
                  <a:srgbClr val="FFFF00"/>
                </a:highlight>
                <a:latin typeface="Cambria" panose="02040503050406030204" pitchFamily="18" charset="0"/>
                <a:ea typeface="Cambria" panose="02040503050406030204" pitchFamily="18" charset="0"/>
              </a:rPr>
              <a:t> </a:t>
            </a:r>
            <a:endParaRPr lang="en-IN" sz="2000" b="1" dirty="0" smtClean="0">
              <a:solidFill>
                <a:srgbClr val="C00000"/>
              </a:solidFill>
              <a:highlight>
                <a:srgbClr val="FFFF00"/>
              </a:highlight>
              <a:latin typeface="Cambria" panose="02040503050406030204" pitchFamily="18" charset="0"/>
              <a:ea typeface="Cambria" panose="02040503050406030204" pitchFamily="18" charset="0"/>
            </a:endParaRPr>
          </a:p>
          <a:p>
            <a:pPr algn="just" fontAlgn="base"/>
            <a:endParaRPr lang="en-IN" sz="2000" b="1" dirty="0">
              <a:solidFill>
                <a:srgbClr val="C00000"/>
              </a:solidFill>
              <a:highlight>
                <a:srgbClr val="FFFF00"/>
              </a:highlight>
              <a:latin typeface="Cambria" panose="02040503050406030204" pitchFamily="18" charset="0"/>
              <a:ea typeface="Cambria" panose="02040503050406030204" pitchFamily="18" charset="0"/>
            </a:endParaRPr>
          </a:p>
          <a:p>
            <a:pPr algn="just" fontAlgn="base"/>
            <a:r>
              <a:rPr lang="en-US" sz="2000" b="1" dirty="0" err="1">
                <a:latin typeface="Cambria" panose="02040503050406030204" pitchFamily="18" charset="0"/>
                <a:ea typeface="Cambria" panose="02040503050406030204" pitchFamily="18" charset="0"/>
              </a:rPr>
              <a:t>LangFlow</a:t>
            </a:r>
            <a:r>
              <a:rPr lang="en-US" sz="2000" dirty="0">
                <a:latin typeface="Cambria" panose="02040503050406030204" pitchFamily="18" charset="0"/>
                <a:ea typeface="Cambria" panose="02040503050406030204" pitchFamily="18" charset="0"/>
              </a:rPr>
              <a:t> serves as the visual orchestration platform for designing and managing the multi-agent workflow. It enables seamless integration of AI components through a drag-and-drop interface, facilitating prompt engineering, workflow automation, agent coordination, and interaction management. </a:t>
            </a:r>
            <a:r>
              <a:rPr lang="en-US" sz="2000" dirty="0" err="1">
                <a:latin typeface="Cambria" panose="02040503050406030204" pitchFamily="18" charset="0"/>
                <a:ea typeface="Cambria" panose="02040503050406030204" pitchFamily="18" charset="0"/>
              </a:rPr>
              <a:t>LangFlow</a:t>
            </a:r>
            <a:r>
              <a:rPr lang="en-US" sz="2000" dirty="0">
                <a:latin typeface="Cambria" panose="02040503050406030204" pitchFamily="18" charset="0"/>
                <a:ea typeface="Cambria" panose="02040503050406030204" pitchFamily="18" charset="0"/>
              </a:rPr>
              <a:t> simplifies the development of complex Agentic AI applications without extensive coding.</a:t>
            </a:r>
            <a:endParaRPr lang="en-IN" sz="2000" dirty="0">
              <a:latin typeface="Cambria" panose="02040503050406030204" pitchFamily="18" charset="0"/>
              <a:ea typeface="Cambria" panose="02040503050406030204" pitchFamily="18" charset="0"/>
            </a:endParaRPr>
          </a:p>
          <a:p>
            <a:pPr marL="285750" indent="-285750" algn="just" fontAlgn="base">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a:p>
            <a:pPr algn="just" fontAlgn="base"/>
            <a:r>
              <a:rPr lang="en-US" sz="2000" b="1" dirty="0">
                <a:latin typeface="Cambria" panose="02040503050406030204" pitchFamily="18" charset="0"/>
                <a:ea typeface="Cambria" panose="02040503050406030204" pitchFamily="18" charset="0"/>
              </a:rPr>
              <a:t>IBM watsonx.ai</a:t>
            </a:r>
            <a:r>
              <a:rPr lang="en-US" sz="2000" dirty="0">
                <a:latin typeface="Cambria" panose="02040503050406030204" pitchFamily="18" charset="0"/>
                <a:ea typeface="Cambria" panose="02040503050406030204" pitchFamily="18" charset="0"/>
              </a:rPr>
              <a:t> provides the enterprise-grade AI development environment that powers the solution's intelligence layer. It offers access to foundation models, prompt engineering capabilities, model deployment, and governance features, enabling secure and scalable AI-driven mental health support</a:t>
            </a:r>
            <a:r>
              <a:rPr lang="en-US" sz="2000" dirty="0" smtClean="0">
                <a:latin typeface="Cambria" panose="02040503050406030204" pitchFamily="18" charset="0"/>
                <a:ea typeface="Cambria" panose="02040503050406030204" pitchFamily="18" charset="0"/>
              </a:rPr>
              <a:t>.</a:t>
            </a:r>
          </a:p>
          <a:p>
            <a:pPr algn="just" fontAlgn="base"/>
            <a:endParaRPr lang="en-US" sz="2000" dirty="0">
              <a:latin typeface="Cambria" panose="02040503050406030204" pitchFamily="18" charset="0"/>
              <a:ea typeface="Cambria" panose="02040503050406030204" pitchFamily="18" charset="0"/>
            </a:endParaRPr>
          </a:p>
          <a:p>
            <a:pPr algn="just" fontAlgn="base"/>
            <a:r>
              <a:rPr lang="en-US" sz="2000" b="1" dirty="0">
                <a:latin typeface="Cambria" panose="02040503050406030204" pitchFamily="18" charset="0"/>
                <a:ea typeface="Cambria" panose="02040503050406030204" pitchFamily="18" charset="0"/>
              </a:rPr>
              <a:t>IBM Granite Models</a:t>
            </a:r>
            <a:r>
              <a:rPr lang="en-US" sz="2000" dirty="0">
                <a:latin typeface="Cambria" panose="02040503050406030204" pitchFamily="18" charset="0"/>
                <a:ea typeface="Cambria" panose="02040503050406030204" pitchFamily="18" charset="0"/>
              </a:rPr>
              <a:t> act as the core Large Language Models (LLMs) responsible for understanding user inputs, analyzing emotions, assessing mental health risks, and generating context-aware responses. These models provide natural language understanding and reasoning capabilities essential for mental health awareness and suicide prevention.</a:t>
            </a:r>
            <a:endParaRPr lang="en-IN" sz="2000" dirty="0">
              <a:latin typeface="Cambria" panose="02040503050406030204" pitchFamily="18" charset="0"/>
              <a:ea typeface="Cambria" panose="02040503050406030204" pitchFamily="18" charset="0"/>
            </a:endParaRPr>
          </a:p>
          <a:p>
            <a:pPr algn="just" fontAlgn="base"/>
            <a:endParaRPr lang="en-US" sz="2000" dirty="0">
              <a:latin typeface="Cambria" panose="02040503050406030204" pitchFamily="18" charset="0"/>
              <a:ea typeface="Cambria" panose="02040503050406030204" pitchFamily="18" charset="0"/>
            </a:endParaRPr>
          </a:p>
          <a:p>
            <a:pPr algn="just"/>
            <a:endParaRPr lang="en-IN" sz="2000"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FBD926A1-0833-2949-651F-2AAB4D91A8C9}"/>
              </a:ext>
            </a:extLst>
          </p:cNvPr>
          <p:cNvSpPr txBox="1"/>
          <p:nvPr/>
        </p:nvSpPr>
        <p:spPr>
          <a:xfrm>
            <a:off x="0" y="274880"/>
            <a:ext cx="12192000" cy="584775"/>
          </a:xfrm>
          <a:prstGeom prst="rect">
            <a:avLst/>
          </a:prstGeom>
          <a:noFill/>
        </p:spPr>
        <p:txBody>
          <a:bodyPr wrap="square" rtlCol="0">
            <a:spAutoFit/>
          </a:bodyPr>
          <a:lstStyle/>
          <a:p>
            <a:r>
              <a:rPr lang="en-US" sz="3200" b="1" dirty="0">
                <a:latin typeface="Cambria" panose="02040503050406030204" pitchFamily="18" charset="0"/>
                <a:ea typeface="Cambria" panose="02040503050406030204" pitchFamily="18" charset="0"/>
              </a:rPr>
              <a:t>Technology Used </a:t>
            </a:r>
            <a:endParaRPr lang="en-IN" sz="32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184672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0" y="711922"/>
            <a:ext cx="12120465" cy="6555641"/>
          </a:xfrm>
          <a:prstGeom prst="rect">
            <a:avLst/>
          </a:prstGeom>
          <a:noFill/>
        </p:spPr>
        <p:txBody>
          <a:bodyPr wrap="square" rtlCol="0">
            <a:spAutoFit/>
          </a:bodyPr>
          <a:lstStyle/>
          <a:p>
            <a:pPr fontAlgn="base"/>
            <a:endParaRPr lang="en-US" sz="1800" b="1" dirty="0">
              <a:latin typeface="Cambria" panose="02040503050406030204" pitchFamily="18" charset="0"/>
              <a:ea typeface="Cambria" panose="02040503050406030204" pitchFamily="18" charset="0"/>
            </a:endParaRPr>
          </a:p>
          <a:p>
            <a:pPr algn="ctr"/>
            <a:r>
              <a:rPr lang="en-US" sz="1800" b="1" dirty="0" smtClean="0">
                <a:solidFill>
                  <a:srgbClr val="C00000"/>
                </a:solidFill>
                <a:latin typeface="Cambria" panose="02040503050406030204" pitchFamily="18" charset="0"/>
                <a:ea typeface="Cambria" panose="02040503050406030204" pitchFamily="18" charset="0"/>
              </a:rPr>
              <a:t>Agentic </a:t>
            </a:r>
            <a:r>
              <a:rPr lang="en-US" sz="1800" b="1" dirty="0">
                <a:solidFill>
                  <a:srgbClr val="C00000"/>
                </a:solidFill>
                <a:latin typeface="Cambria" panose="02040503050406030204" pitchFamily="18" charset="0"/>
                <a:ea typeface="Cambria" panose="02040503050406030204" pitchFamily="18" charset="0"/>
              </a:rPr>
              <a:t>AI for Mental Health Awareness and Suicide </a:t>
            </a:r>
            <a:r>
              <a:rPr lang="en-US" sz="1800" b="1" dirty="0" smtClean="0">
                <a:solidFill>
                  <a:srgbClr val="C00000"/>
                </a:solidFill>
                <a:latin typeface="Cambria" panose="02040503050406030204" pitchFamily="18" charset="0"/>
                <a:ea typeface="Cambria" panose="02040503050406030204" pitchFamily="18" charset="0"/>
              </a:rPr>
              <a:t>Prevention</a:t>
            </a:r>
          </a:p>
          <a:p>
            <a:pPr algn="just"/>
            <a:r>
              <a:rPr lang="en-US" sz="1600" dirty="0" smtClean="0">
                <a:latin typeface="Cambria" panose="02040503050406030204" pitchFamily="18" charset="0"/>
                <a:ea typeface="Cambria" panose="02040503050406030204" pitchFamily="18" charset="0"/>
              </a:rPr>
              <a:t>The proposed solution is a </a:t>
            </a:r>
            <a:r>
              <a:rPr lang="en-US" sz="1600" b="1" dirty="0" smtClean="0">
                <a:latin typeface="Cambria" panose="02040503050406030204" pitchFamily="18" charset="0"/>
                <a:ea typeface="Cambria" panose="02040503050406030204" pitchFamily="18" charset="0"/>
              </a:rPr>
              <a:t>multi-agent AI-powered Mental Health Awareness and Suicide Prevention System</a:t>
            </a:r>
            <a:r>
              <a:rPr lang="en-US" sz="1600" dirty="0" smtClean="0">
                <a:latin typeface="Cambria" panose="02040503050406030204" pitchFamily="18" charset="0"/>
                <a:ea typeface="Cambria" panose="02040503050406030204" pitchFamily="18" charset="0"/>
              </a:rPr>
              <a:t> built using </a:t>
            </a:r>
            <a:r>
              <a:rPr lang="en-US" sz="1600" b="1" dirty="0" err="1" smtClean="0">
                <a:latin typeface="Cambria" panose="02040503050406030204" pitchFamily="18" charset="0"/>
                <a:ea typeface="Cambria" panose="02040503050406030204" pitchFamily="18" charset="0"/>
              </a:rPr>
              <a:t>LangFlow</a:t>
            </a:r>
            <a:r>
              <a:rPr lang="en-US" sz="1600" b="1" dirty="0" smtClean="0">
                <a:latin typeface="Cambria" panose="02040503050406030204" pitchFamily="18" charset="0"/>
                <a:ea typeface="Cambria" panose="02040503050406030204" pitchFamily="18" charset="0"/>
              </a:rPr>
              <a:t>, IBM watsonx.ai, and Granite Models</a:t>
            </a:r>
            <a:r>
              <a:rPr lang="en-US" sz="1600" dirty="0" smtClean="0">
                <a:latin typeface="Cambria" panose="02040503050406030204" pitchFamily="18" charset="0"/>
                <a:ea typeface="Cambria" panose="02040503050406030204" pitchFamily="18" charset="0"/>
              </a:rPr>
              <a:t> to provide personalized, proactive, and real-time mental health support. The system addresses critical challenges in mental health awareness, emotional well-being monitoring, early suicide risk detection, and timely intervention through an intelligent, modular architecture.</a:t>
            </a:r>
          </a:p>
          <a:p>
            <a:pPr algn="just"/>
            <a:r>
              <a:rPr lang="en-US" sz="1600" dirty="0" smtClean="0">
                <a:latin typeface="Cambria" panose="02040503050406030204" pitchFamily="18" charset="0"/>
                <a:ea typeface="Cambria" panose="02040503050406030204" pitchFamily="18" charset="0"/>
              </a:rPr>
              <a:t>At </a:t>
            </a:r>
            <a:r>
              <a:rPr lang="en-US" sz="1600" dirty="0">
                <a:latin typeface="Cambria" panose="02040503050406030204" pitchFamily="18" charset="0"/>
                <a:ea typeface="Cambria" panose="02040503050406030204" pitchFamily="18" charset="0"/>
              </a:rPr>
              <a:t>its core, the solution utilizes a </a:t>
            </a:r>
            <a:r>
              <a:rPr lang="en-US" sz="1600" b="1" dirty="0">
                <a:latin typeface="Cambria" panose="02040503050406030204" pitchFamily="18" charset="0"/>
                <a:ea typeface="Cambria" panose="02040503050406030204" pitchFamily="18" charset="0"/>
              </a:rPr>
              <a:t>Retrieval-Augmented Generation (RAG) pipeline</a:t>
            </a:r>
            <a:r>
              <a:rPr lang="en-US" sz="1600" dirty="0">
                <a:latin typeface="Cambria" panose="02040503050406030204" pitchFamily="18" charset="0"/>
                <a:ea typeface="Cambria" panose="02040503050406030204" pitchFamily="18" charset="0"/>
              </a:rPr>
              <a:t> to access reliable mental health knowledge from trusted sources such as the </a:t>
            </a:r>
            <a:r>
              <a:rPr lang="en-US" sz="1600" b="1" dirty="0">
                <a:latin typeface="Cambria" panose="02040503050406030204" pitchFamily="18" charset="0"/>
                <a:ea typeface="Cambria" panose="02040503050406030204" pitchFamily="18" charset="0"/>
              </a:rPr>
              <a:t>World Health Organization (WHO), National Institute of Mental Health (NIMH), Centers for Disease Control and Prevention (CDC), and validated psychological wellness resources</a:t>
            </a:r>
            <a:r>
              <a:rPr lang="en-US" sz="1600" dirty="0">
                <a:latin typeface="Cambria" panose="02040503050406030204" pitchFamily="18" charset="0"/>
                <a:ea typeface="Cambria" panose="02040503050406030204" pitchFamily="18" charset="0"/>
              </a:rPr>
              <a:t>. This information is embedded and stored in a vector database, enabling the system to retrieve and generate accurate, context-aware responses related to mental health conditions, coping mechanisms, crisis support, and preventive care using Granite models.</a:t>
            </a:r>
          </a:p>
          <a:p>
            <a:r>
              <a:rPr lang="en-US" sz="1600" dirty="0" smtClean="0">
                <a:latin typeface="Cambria" panose="02040503050406030204" pitchFamily="18" charset="0"/>
                <a:ea typeface="Cambria" panose="02040503050406030204" pitchFamily="18" charset="0"/>
              </a:rPr>
              <a:t>The </a:t>
            </a:r>
            <a:r>
              <a:rPr lang="en-US" sz="1600" dirty="0">
                <a:latin typeface="Cambria" panose="02040503050406030204" pitchFamily="18" charset="0"/>
                <a:ea typeface="Cambria" panose="02040503050406030204" pitchFamily="18" charset="0"/>
              </a:rPr>
              <a:t>system consists of four key agents:</a:t>
            </a:r>
          </a:p>
          <a:p>
            <a:r>
              <a:rPr lang="en-US" sz="1600" b="1" dirty="0">
                <a:solidFill>
                  <a:srgbClr val="C00000"/>
                </a:solidFill>
                <a:latin typeface="Cambria" panose="02040503050406030204" pitchFamily="18" charset="0"/>
                <a:ea typeface="Cambria" panose="02040503050406030204" pitchFamily="18" charset="0"/>
              </a:rPr>
              <a:t>1. Mental Health Knowledge Agent</a:t>
            </a:r>
          </a:p>
          <a:p>
            <a:r>
              <a:rPr lang="en-US" sz="1600" dirty="0">
                <a:latin typeface="Cambria" panose="02040503050406030204" pitchFamily="18" charset="0"/>
                <a:ea typeface="Cambria" panose="02040503050406030204" pitchFamily="18" charset="0"/>
              </a:rPr>
              <a:t>Retrieves and summarizes evidence-based mental health information using RAG. </a:t>
            </a:r>
            <a:endParaRPr lang="en-US" sz="1600" dirty="0" smtClean="0">
              <a:latin typeface="Cambria" panose="02040503050406030204" pitchFamily="18" charset="0"/>
              <a:ea typeface="Cambria" panose="02040503050406030204" pitchFamily="18" charset="0"/>
            </a:endParaRPr>
          </a:p>
          <a:p>
            <a:r>
              <a:rPr lang="en-US" sz="1600" b="1" dirty="0">
                <a:solidFill>
                  <a:srgbClr val="C00000"/>
                </a:solidFill>
                <a:latin typeface="Cambria" panose="02040503050406030204" pitchFamily="18" charset="0"/>
                <a:ea typeface="Cambria" panose="02040503050406030204" pitchFamily="18" charset="0"/>
              </a:rPr>
              <a:t>2. Emotional Assessment Agent</a:t>
            </a:r>
          </a:p>
          <a:p>
            <a:r>
              <a:rPr lang="en-US" sz="1600" dirty="0" smtClean="0">
                <a:latin typeface="Cambria" panose="02040503050406030204" pitchFamily="18" charset="0"/>
                <a:ea typeface="Cambria" panose="02040503050406030204" pitchFamily="18" charset="0"/>
              </a:rPr>
              <a:t>Detects </a:t>
            </a:r>
            <a:r>
              <a:rPr lang="en-US" sz="1600" dirty="0">
                <a:latin typeface="Cambria" panose="02040503050406030204" pitchFamily="18" charset="0"/>
                <a:ea typeface="Cambria" panose="02040503050406030204" pitchFamily="18" charset="0"/>
              </a:rPr>
              <a:t>emotional states such as stress, anxiety, loneliness, hopelessness, sadness, or emotional distress. </a:t>
            </a:r>
          </a:p>
          <a:p>
            <a:r>
              <a:rPr lang="en-US" sz="1600" dirty="0">
                <a:latin typeface="Cambria" panose="02040503050406030204" pitchFamily="18" charset="0"/>
                <a:ea typeface="Cambria" panose="02040503050406030204" pitchFamily="18" charset="0"/>
              </a:rPr>
              <a:t>Continuously monitors behavioral and emotional patterns to identify early warning signs. </a:t>
            </a:r>
          </a:p>
          <a:p>
            <a:r>
              <a:rPr lang="en-US" sz="1600" b="1" dirty="0">
                <a:solidFill>
                  <a:srgbClr val="C00000"/>
                </a:solidFill>
                <a:latin typeface="Cambria" panose="02040503050406030204" pitchFamily="18" charset="0"/>
                <a:ea typeface="Cambria" panose="02040503050406030204" pitchFamily="18" charset="0"/>
              </a:rPr>
              <a:t>3. Personalized Support &amp; Recommendation Agent</a:t>
            </a:r>
          </a:p>
          <a:p>
            <a:r>
              <a:rPr lang="en-US" sz="1600" dirty="0">
                <a:latin typeface="Cambria" panose="02040503050406030204" pitchFamily="18" charset="0"/>
                <a:ea typeface="Cambria" panose="02040503050406030204" pitchFamily="18" charset="0"/>
              </a:rPr>
              <a:t>Generates personalized wellness plans based on user emotional status, age group, lifestyle, and mental health needs. </a:t>
            </a:r>
          </a:p>
          <a:p>
            <a:r>
              <a:rPr lang="en-US" sz="1600" b="1" dirty="0">
                <a:solidFill>
                  <a:srgbClr val="C00000"/>
                </a:solidFill>
                <a:latin typeface="Cambria" panose="02040503050406030204" pitchFamily="18" charset="0"/>
                <a:ea typeface="Cambria" panose="02040503050406030204" pitchFamily="18" charset="0"/>
              </a:rPr>
              <a:t>4. Suicide Risk Detection &amp; Crisis Intervention Agent</a:t>
            </a:r>
          </a:p>
          <a:p>
            <a:r>
              <a:rPr lang="en-US" sz="1600" dirty="0" smtClean="0">
                <a:latin typeface="Cambria" panose="02040503050406030204" pitchFamily="18" charset="0"/>
                <a:ea typeface="Cambria" panose="02040503050406030204" pitchFamily="18" charset="0"/>
              </a:rPr>
              <a:t>Performs </a:t>
            </a:r>
            <a:r>
              <a:rPr lang="en-US" sz="1600" dirty="0">
                <a:latin typeface="Cambria" panose="02040503050406030204" pitchFamily="18" charset="0"/>
                <a:ea typeface="Cambria" panose="02040503050406030204" pitchFamily="18" charset="0"/>
              </a:rPr>
              <a:t>risk assessment and classifies users into Low, Moderate, High, or Critical risk categories. </a:t>
            </a:r>
          </a:p>
          <a:p>
            <a:pPr algn="just"/>
            <a:r>
              <a:rPr lang="en-US" sz="1600" b="1" dirty="0" err="1" smtClean="0">
                <a:latin typeface="Cambria" panose="02040503050406030204" pitchFamily="18" charset="0"/>
                <a:ea typeface="Cambria" panose="02040503050406030204" pitchFamily="18" charset="0"/>
              </a:rPr>
              <a:t>LangFlow</a:t>
            </a:r>
            <a:r>
              <a:rPr lang="en-US" sz="1600" dirty="0" smtClean="0">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rPr>
              <a:t>is used to orchestrate agent workflows and manage inter-agent communication, while </a:t>
            </a:r>
            <a:r>
              <a:rPr lang="en-US" sz="1600" b="1" dirty="0">
                <a:latin typeface="Cambria" panose="02040503050406030204" pitchFamily="18" charset="0"/>
                <a:ea typeface="Cambria" panose="02040503050406030204" pitchFamily="18" charset="0"/>
              </a:rPr>
              <a:t>IBM watsonx.ai</a:t>
            </a:r>
            <a:r>
              <a:rPr lang="en-US" sz="1600" dirty="0">
                <a:latin typeface="Cambria" panose="02040503050406030204" pitchFamily="18" charset="0"/>
                <a:ea typeface="Cambria" panose="02040503050406030204" pitchFamily="18" charset="0"/>
              </a:rPr>
              <a:t> provides scalable model deployment, </a:t>
            </a:r>
            <a:r>
              <a:rPr lang="en-US" sz="1600" dirty="0" err="1">
                <a:latin typeface="Cambria" panose="02040503050406030204" pitchFamily="18" charset="0"/>
                <a:ea typeface="Cambria" panose="02040503050406030204" pitchFamily="18" charset="0"/>
              </a:rPr>
              <a:t>embeddings</a:t>
            </a:r>
            <a:r>
              <a:rPr lang="en-US" sz="1600" dirty="0">
                <a:latin typeface="Cambria" panose="02040503050406030204" pitchFamily="18" charset="0"/>
                <a:ea typeface="Cambria" panose="02040503050406030204" pitchFamily="18" charset="0"/>
              </a:rPr>
              <a:t>, governance, security, and responsible AI capabilities. </a:t>
            </a:r>
            <a:r>
              <a:rPr lang="en-US" sz="1600" b="1" dirty="0">
                <a:latin typeface="Cambria" panose="02040503050406030204" pitchFamily="18" charset="0"/>
                <a:ea typeface="Cambria" panose="02040503050406030204" pitchFamily="18" charset="0"/>
              </a:rPr>
              <a:t>Granite Models</a:t>
            </a:r>
            <a:r>
              <a:rPr lang="en-US" sz="1600" dirty="0">
                <a:latin typeface="Cambria" panose="02040503050406030204" pitchFamily="18" charset="0"/>
                <a:ea typeface="Cambria" panose="02040503050406030204" pitchFamily="18" charset="0"/>
              </a:rPr>
              <a:t> power advanced reasoning, sentiment understanding, emotional analysis, summarization, and personalized support generation.</a:t>
            </a:r>
          </a:p>
          <a:p>
            <a:pPr fontAlgn="base"/>
            <a:endParaRPr lang="en-US" sz="1600"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27F30CC-07EF-8FCC-DA00-C9212F5DAECE}"/>
              </a:ext>
            </a:extLst>
          </p:cNvPr>
          <p:cNvSpPr txBox="1"/>
          <p:nvPr/>
        </p:nvSpPr>
        <p:spPr>
          <a:xfrm>
            <a:off x="0" y="321533"/>
            <a:ext cx="12192000" cy="584775"/>
          </a:xfrm>
          <a:prstGeom prst="rect">
            <a:avLst/>
          </a:prstGeom>
          <a:noFill/>
        </p:spPr>
        <p:txBody>
          <a:bodyPr wrap="square" rtlCol="0">
            <a:spAutoFit/>
          </a:bodyPr>
          <a:lstStyle/>
          <a:p>
            <a:r>
              <a:rPr lang="en-US" sz="3200" b="1" dirty="0">
                <a:latin typeface="Cambria" panose="02040503050406030204" pitchFamily="18" charset="0"/>
                <a:ea typeface="Cambria" panose="02040503050406030204" pitchFamily="18" charset="0"/>
              </a:rPr>
              <a:t>Proposed Solution </a:t>
            </a:r>
            <a:endParaRPr lang="en-IN" sz="32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902949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0" y="323239"/>
            <a:ext cx="12192000"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200" b="1" dirty="0" err="1">
                <a:latin typeface="Cambria" panose="02040503050406030204" pitchFamily="18" charset="0"/>
                <a:ea typeface="Cambria" panose="02040503050406030204" pitchFamily="18" charset="0"/>
                <a:sym typeface="Times New Roman"/>
              </a:rPr>
              <a:t>Langflow</a:t>
            </a:r>
            <a:r>
              <a:rPr lang="en-US" sz="3200" b="1" i="0" u="none" strike="noStrike" cap="none" dirty="0">
                <a:solidFill>
                  <a:srgbClr val="051D3A"/>
                </a:solidFill>
                <a:latin typeface="Cambria" panose="02040503050406030204" pitchFamily="18" charset="0"/>
                <a:ea typeface="Cambria" panose="02040503050406030204" pitchFamily="18" charset="0"/>
                <a:cs typeface="Times New Roman"/>
                <a:sym typeface="Times New Roman"/>
              </a:rPr>
              <a:t> </a:t>
            </a:r>
            <a:r>
              <a:rPr lang="en-US" sz="3200" b="1" dirty="0">
                <a:latin typeface="Cambria" panose="02040503050406030204" pitchFamily="18" charset="0"/>
                <a:ea typeface="Cambria" panose="02040503050406030204" pitchFamily="18" charset="0"/>
                <a:sym typeface="Times New Roman"/>
              </a:rPr>
              <a:t>component Used </a:t>
            </a:r>
            <a:endParaRPr sz="3200" b="1" dirty="0">
              <a:latin typeface="Cambria" panose="02040503050406030204" pitchFamily="18" charset="0"/>
              <a:ea typeface="Cambria" panose="02040503050406030204" pitchFamily="18" charset="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0" y="891180"/>
            <a:ext cx="12192000" cy="5632311"/>
          </a:xfrm>
          <a:prstGeom prst="rect">
            <a:avLst/>
          </a:prstGeom>
          <a:noFill/>
        </p:spPr>
        <p:txBody>
          <a:bodyPr wrap="square" rtlCol="0">
            <a:spAutoFit/>
          </a:bodyPr>
          <a:lstStyle/>
          <a:p>
            <a:pPr algn="just"/>
            <a:r>
              <a:rPr lang="en-US" sz="2000" dirty="0">
                <a:latin typeface="Cambria" panose="02040503050406030204" pitchFamily="18" charset="0"/>
                <a:ea typeface="Cambria" panose="02040503050406030204" pitchFamily="18" charset="0"/>
              </a:rPr>
              <a:t>For </a:t>
            </a:r>
            <a:r>
              <a:rPr lang="en-US" sz="2000" b="1" dirty="0">
                <a:latin typeface="Cambria" panose="02040503050406030204" pitchFamily="18" charset="0"/>
                <a:ea typeface="Cambria" panose="02040503050406030204" pitchFamily="18" charset="0"/>
              </a:rPr>
              <a:t>Agentic AI for Mental Health Awareness &amp; Suicide Prevention</a:t>
            </a:r>
            <a:r>
              <a:rPr lang="en-US" sz="2000" dirty="0">
                <a:latin typeface="Cambria" panose="02040503050406030204" pitchFamily="18" charset="0"/>
                <a:ea typeface="Cambria" panose="02040503050406030204" pitchFamily="18" charset="0"/>
              </a:rPr>
              <a:t>, you can present the components in a more professional and impactful way:</a:t>
            </a:r>
          </a:p>
          <a:p>
            <a:pPr algn="just"/>
            <a:r>
              <a:rPr lang="en-US" sz="2000" b="1" dirty="0" smtClean="0">
                <a:solidFill>
                  <a:srgbClr val="C00000"/>
                </a:solidFill>
                <a:latin typeface="Cambria" panose="02040503050406030204" pitchFamily="18" charset="0"/>
                <a:ea typeface="Cambria" panose="02040503050406030204" pitchFamily="18" charset="0"/>
              </a:rPr>
              <a:t>1</a:t>
            </a:r>
            <a:r>
              <a:rPr lang="en-US" sz="2000" b="1" dirty="0">
                <a:solidFill>
                  <a:srgbClr val="C00000"/>
                </a:solidFill>
                <a:latin typeface="Cambria" panose="02040503050406030204" pitchFamily="18" charset="0"/>
                <a:ea typeface="Cambria" panose="02040503050406030204" pitchFamily="18" charset="0"/>
              </a:rPr>
              <a:t>. User Interaction (Chat Input)</a:t>
            </a:r>
            <a:endParaRPr lang="en-US" sz="2000" dirty="0">
              <a:solidFill>
                <a:srgbClr val="C00000"/>
              </a:solidFill>
              <a:latin typeface="Cambria" panose="02040503050406030204" pitchFamily="18" charset="0"/>
              <a:ea typeface="Cambria" panose="02040503050406030204" pitchFamily="18" charset="0"/>
            </a:endParaRPr>
          </a:p>
          <a:p>
            <a:pPr algn="just"/>
            <a:r>
              <a:rPr lang="en-US" sz="2000" dirty="0">
                <a:latin typeface="Cambria" panose="02040503050406030204" pitchFamily="18" charset="0"/>
                <a:ea typeface="Cambria" panose="02040503050406030204" pitchFamily="18" charset="0"/>
              </a:rPr>
              <a:t>Serves as the primary interface where users share thoughts, emotions, concerns, or mental health-related queries through natural language conversations. </a:t>
            </a:r>
          </a:p>
          <a:p>
            <a:pPr algn="just"/>
            <a:r>
              <a:rPr lang="en-US" sz="2000" b="1" dirty="0">
                <a:solidFill>
                  <a:srgbClr val="C00000"/>
                </a:solidFill>
                <a:latin typeface="Cambria" panose="02040503050406030204" pitchFamily="18" charset="0"/>
                <a:ea typeface="Cambria" panose="02040503050406030204" pitchFamily="18" charset="0"/>
              </a:rPr>
              <a:t>2. IBM watsonx.ai Agent</a:t>
            </a:r>
          </a:p>
          <a:p>
            <a:pPr algn="just"/>
            <a:r>
              <a:rPr lang="en-US" sz="2000" dirty="0">
                <a:latin typeface="Cambria" panose="02040503050406030204" pitchFamily="18" charset="0"/>
                <a:ea typeface="Cambria" panose="02040503050406030204" pitchFamily="18" charset="0"/>
              </a:rPr>
              <a:t>Acts as the intelligent decision-making engine, analyzing user inputs, assessing emotional states, identifying potential mental health risks, and generating personalized support strategies. </a:t>
            </a:r>
          </a:p>
          <a:p>
            <a:pPr algn="just"/>
            <a:r>
              <a:rPr lang="en-US" sz="2000" b="1" dirty="0">
                <a:solidFill>
                  <a:srgbClr val="C00000"/>
                </a:solidFill>
                <a:latin typeface="Cambria" panose="02040503050406030204" pitchFamily="18" charset="0"/>
                <a:ea typeface="Cambria" panose="02040503050406030204" pitchFamily="18" charset="0"/>
              </a:rPr>
              <a:t>3. IBM Granite Model </a:t>
            </a:r>
            <a:r>
              <a:rPr lang="en-US" sz="2000" b="1" dirty="0" smtClean="0">
                <a:solidFill>
                  <a:srgbClr val="C00000"/>
                </a:solidFill>
                <a:latin typeface="Cambria" panose="02040503050406030204" pitchFamily="18" charset="0"/>
                <a:ea typeface="Cambria" panose="02040503050406030204" pitchFamily="18" charset="0"/>
              </a:rPr>
              <a:t>Granite-4.0-8B-Instruct</a:t>
            </a:r>
          </a:p>
          <a:p>
            <a:pPr algn="just"/>
            <a:r>
              <a:rPr lang="en-US" sz="2000" dirty="0" smtClean="0">
                <a:latin typeface="Cambria" panose="02040503050406030204" pitchFamily="18" charset="0"/>
                <a:ea typeface="Cambria" panose="02040503050406030204" pitchFamily="18" charset="0"/>
              </a:rPr>
              <a:t>A </a:t>
            </a:r>
            <a:r>
              <a:rPr lang="en-US" sz="2000" dirty="0">
                <a:latin typeface="Cambria" panose="02040503050406030204" pitchFamily="18" charset="0"/>
                <a:ea typeface="Cambria" panose="02040503050406030204" pitchFamily="18" charset="0"/>
              </a:rPr>
              <a:t>powerful and efficient Large Language Model (LLM) that enables real-time emotional understanding, contextual reasoning, suicide risk assessment, and personalized mental health guidance. </a:t>
            </a:r>
          </a:p>
          <a:p>
            <a:pPr algn="just"/>
            <a:r>
              <a:rPr lang="en-US" sz="2000" b="1" dirty="0">
                <a:solidFill>
                  <a:srgbClr val="C00000"/>
                </a:solidFill>
                <a:latin typeface="Cambria" panose="02040503050406030204" pitchFamily="18" charset="0"/>
                <a:ea typeface="Cambria" panose="02040503050406030204" pitchFamily="18" charset="0"/>
              </a:rPr>
              <a:t>4. AI Response Interface (Chat Output)</a:t>
            </a:r>
          </a:p>
          <a:p>
            <a:pPr algn="just"/>
            <a:r>
              <a:rPr lang="en-US" sz="2000" dirty="0">
                <a:latin typeface="Cambria" panose="02040503050406030204" pitchFamily="18" charset="0"/>
                <a:ea typeface="Cambria" panose="02040503050406030204" pitchFamily="18" charset="0"/>
              </a:rPr>
              <a:t>Delivers empathetic, context-aware responses including mental health awareness content, coping strategies, wellness recommendations, emotional support, and crisis intervention guidance. </a:t>
            </a:r>
          </a:p>
          <a:p>
            <a:pPr algn="just"/>
            <a:r>
              <a:rPr lang="en-US" sz="2000" b="1" dirty="0">
                <a:solidFill>
                  <a:srgbClr val="C00000"/>
                </a:solidFill>
                <a:latin typeface="Cambria" panose="02040503050406030204" pitchFamily="18" charset="0"/>
                <a:ea typeface="Cambria" panose="02040503050406030204" pitchFamily="18" charset="0"/>
              </a:rPr>
              <a:t>5. Knowledge &amp; Data Repository (File Component)</a:t>
            </a:r>
          </a:p>
          <a:p>
            <a:pPr algn="just"/>
            <a:r>
              <a:rPr lang="en-US" sz="2000" dirty="0">
                <a:latin typeface="Cambria" panose="02040503050406030204" pitchFamily="18" charset="0"/>
                <a:ea typeface="Cambria" panose="02040503050406030204" pitchFamily="18" charset="0"/>
              </a:rPr>
              <a:t>Stores and manages user conversations, mood tracking records, emotional wellness history, mental health assessments, intervention logs, and trusted mental health resources to enable continuous monitoring and personalized support.</a:t>
            </a:r>
          </a:p>
        </p:txBody>
      </p:sp>
    </p:spTree>
    <p:extLst>
      <p:ext uri="{BB962C8B-B14F-4D97-AF65-F5344CB8AC3E}">
        <p14:creationId xmlns:p14="http://schemas.microsoft.com/office/powerpoint/2010/main" val="3285263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18662" y="323239"/>
            <a:ext cx="12192000"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200" b="1" dirty="0" err="1">
                <a:latin typeface="Cambria" panose="02040503050406030204" pitchFamily="18" charset="0"/>
                <a:ea typeface="Cambria" panose="02040503050406030204" pitchFamily="18" charset="0"/>
                <a:sym typeface="Times New Roman"/>
              </a:rPr>
              <a:t>Langflow</a:t>
            </a:r>
            <a:r>
              <a:rPr lang="en-US" sz="3200" b="1" i="0" u="none" strike="noStrike" cap="none" dirty="0">
                <a:solidFill>
                  <a:srgbClr val="051D3A"/>
                </a:solidFill>
                <a:latin typeface="Cambria" panose="02040503050406030204" pitchFamily="18" charset="0"/>
                <a:ea typeface="Cambria" panose="02040503050406030204" pitchFamily="18" charset="0"/>
                <a:cs typeface="Times New Roman"/>
                <a:sym typeface="Times New Roman"/>
              </a:rPr>
              <a:t> </a:t>
            </a:r>
            <a:r>
              <a:rPr lang="en-US" sz="3200" b="1" dirty="0">
                <a:latin typeface="Cambria" panose="02040503050406030204" pitchFamily="18" charset="0"/>
                <a:ea typeface="Cambria" panose="02040503050406030204" pitchFamily="18" charset="0"/>
                <a:sym typeface="Times New Roman"/>
              </a:rPr>
              <a:t>workflow </a:t>
            </a:r>
            <a:endParaRPr sz="3200" b="1" dirty="0">
              <a:latin typeface="Cambria" panose="02040503050406030204" pitchFamily="18" charset="0"/>
              <a:ea typeface="Cambria" panose="02040503050406030204" pitchFamily="18" charset="0"/>
              <a:sym typeface="Times New Roman"/>
            </a:endParaRPr>
          </a:p>
        </p:txBody>
      </p:sp>
      <p:pic>
        <p:nvPicPr>
          <p:cNvPr id="3" name="Picture 2"/>
          <p:cNvPicPr>
            <a:picLocks noChangeAspect="1"/>
          </p:cNvPicPr>
          <p:nvPr/>
        </p:nvPicPr>
        <p:blipFill>
          <a:blip r:embed="rId3"/>
          <a:stretch>
            <a:fillRect/>
          </a:stretch>
        </p:blipFill>
        <p:spPr>
          <a:xfrm>
            <a:off x="433270" y="983938"/>
            <a:ext cx="11304640" cy="563434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5" name="Picture 4"/>
          <p:cNvPicPr>
            <a:picLocks noChangeAspect="1"/>
          </p:cNvPicPr>
          <p:nvPr/>
        </p:nvPicPr>
        <p:blipFill>
          <a:blip r:embed="rId2"/>
          <a:stretch>
            <a:fillRect/>
          </a:stretch>
        </p:blipFill>
        <p:spPr>
          <a:xfrm>
            <a:off x="0" y="195943"/>
            <a:ext cx="12192000" cy="6378126"/>
          </a:xfrm>
          <a:prstGeom prst="rect">
            <a:avLst/>
          </a:prstGeom>
        </p:spPr>
      </p:pic>
    </p:spTree>
    <p:extLst>
      <p:ext uri="{BB962C8B-B14F-4D97-AF65-F5344CB8AC3E}">
        <p14:creationId xmlns:p14="http://schemas.microsoft.com/office/powerpoint/2010/main" val="1539082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87828" y="158621"/>
            <a:ext cx="10907485" cy="66340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9015797" y="1540718"/>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0" y="302126"/>
            <a:ext cx="12191999" cy="1077218"/>
          </a:xfrm>
          <a:prstGeom prst="rect">
            <a:avLst/>
          </a:prstGeom>
          <a:noFill/>
        </p:spPr>
        <p:txBody>
          <a:bodyPr wrap="square" rtlCol="0">
            <a:spAutoFit/>
          </a:bodyPr>
          <a:lstStyle/>
          <a:p>
            <a:pPr algn="just"/>
            <a:r>
              <a:rPr lang="en-US" sz="3200" b="1" dirty="0">
                <a:latin typeface="Cambria" panose="02040503050406030204" pitchFamily="18" charset="0"/>
                <a:ea typeface="Cambria" panose="02040503050406030204" pitchFamily="18" charset="0"/>
              </a:rPr>
              <a:t>Role of Agentic AI in Mental Health Awareness and Suicide Prevention Solution</a:t>
            </a:r>
            <a:endParaRPr lang="en-IN" sz="3200" b="1"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322462E8-EB3A-DA7D-44CB-4E757803A755}"/>
              </a:ext>
            </a:extLst>
          </p:cNvPr>
          <p:cNvSpPr txBox="1"/>
          <p:nvPr/>
        </p:nvSpPr>
        <p:spPr>
          <a:xfrm>
            <a:off x="65315" y="1379344"/>
            <a:ext cx="8854750" cy="5509200"/>
          </a:xfrm>
          <a:prstGeom prst="rect">
            <a:avLst/>
          </a:prstGeom>
          <a:noFill/>
        </p:spPr>
        <p:txBody>
          <a:bodyPr wrap="square" rtlCol="0">
            <a:spAutoFit/>
          </a:bodyPr>
          <a:lstStyle/>
          <a:p>
            <a:r>
              <a:rPr lang="en-US" sz="1600" b="1" dirty="0">
                <a:latin typeface="Cambria" panose="02040503050406030204" pitchFamily="18" charset="0"/>
                <a:ea typeface="Cambria" panose="02040503050406030204" pitchFamily="18" charset="0"/>
              </a:rPr>
              <a:t>Agentic AI</a:t>
            </a:r>
            <a:r>
              <a:rPr lang="en-US" sz="1600" dirty="0">
                <a:latin typeface="Cambria" panose="02040503050406030204" pitchFamily="18" charset="0"/>
                <a:ea typeface="Cambria" panose="02040503050406030204" pitchFamily="18" charset="0"/>
              </a:rPr>
              <a:t> acts as an intelligent, autonomous assistant that continuously monitors emotional well-being, identifies mental health risks, and provides personalized interventions to support users</a:t>
            </a:r>
            <a:r>
              <a:rPr lang="en-US" sz="1600" dirty="0" smtClean="0">
                <a:latin typeface="Cambria" panose="02040503050406030204" pitchFamily="18" charset="0"/>
                <a:ea typeface="Cambria" panose="02040503050406030204" pitchFamily="18" charset="0"/>
              </a:rPr>
              <a:t>.</a:t>
            </a:r>
          </a:p>
          <a:p>
            <a:r>
              <a:rPr lang="en-US" sz="1600" b="1" dirty="0">
                <a:latin typeface="Cambria" panose="02040503050406030204" pitchFamily="18" charset="0"/>
                <a:ea typeface="Cambria" panose="02040503050406030204" pitchFamily="18" charset="0"/>
              </a:rPr>
              <a:t>Key Roles</a:t>
            </a:r>
          </a:p>
          <a:p>
            <a:r>
              <a:rPr lang="en-US" sz="1600" b="1" dirty="0">
                <a:solidFill>
                  <a:srgbClr val="C00000"/>
                </a:solidFill>
                <a:latin typeface="Cambria" panose="02040503050406030204" pitchFamily="18" charset="0"/>
                <a:ea typeface="Cambria" panose="02040503050406030204" pitchFamily="18" charset="0"/>
              </a:rPr>
              <a:t>✅ Mental Health Monitoring</a:t>
            </a:r>
            <a:endParaRPr lang="en-US" sz="1600" dirty="0">
              <a:solidFill>
                <a:srgbClr val="C00000"/>
              </a:solidFill>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Analyzes user conversations, emotions, and behavioral patterns. </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Detects signs of stress, anxiety, depression, and emotional distress. </a:t>
            </a:r>
          </a:p>
          <a:p>
            <a:r>
              <a:rPr lang="en-US" sz="1600" dirty="0">
                <a:solidFill>
                  <a:srgbClr val="C00000"/>
                </a:solidFill>
                <a:latin typeface="Cambria" panose="02040503050406030204" pitchFamily="18" charset="0"/>
                <a:ea typeface="Cambria" panose="02040503050406030204" pitchFamily="18" charset="0"/>
              </a:rPr>
              <a:t>✅ </a:t>
            </a:r>
            <a:r>
              <a:rPr lang="en-US" sz="1600" b="1" dirty="0">
                <a:solidFill>
                  <a:srgbClr val="C00000"/>
                </a:solidFill>
                <a:latin typeface="Cambria" panose="02040503050406030204" pitchFamily="18" charset="0"/>
                <a:ea typeface="Cambria" panose="02040503050406030204" pitchFamily="18" charset="0"/>
              </a:rPr>
              <a:t>Early Suicide Risk Detection</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Identifies suicidal ideation using sentiment analysis and NLP. </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Classifies users into low, medium, or high-risk categories. </a:t>
            </a:r>
          </a:p>
          <a:p>
            <a:r>
              <a:rPr lang="en-US" sz="1600" b="1" dirty="0">
                <a:solidFill>
                  <a:srgbClr val="C00000"/>
                </a:solidFill>
                <a:latin typeface="Cambria" panose="02040503050406030204" pitchFamily="18" charset="0"/>
                <a:ea typeface="Cambria" panose="02040503050406030204" pitchFamily="18" charset="0"/>
              </a:rPr>
              <a:t>✅ Personalized Awareness &amp; Guidance</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Delivers customized mental health education and coping strategies. </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Recommends mindfulness exercises and wellness activities. </a:t>
            </a:r>
          </a:p>
          <a:p>
            <a:r>
              <a:rPr lang="en-US" sz="1600" b="1" dirty="0">
                <a:solidFill>
                  <a:srgbClr val="C00000"/>
                </a:solidFill>
                <a:latin typeface="Cambria" panose="02040503050406030204" pitchFamily="18" charset="0"/>
                <a:ea typeface="Cambria" panose="02040503050406030204" pitchFamily="18" charset="0"/>
              </a:rPr>
              <a:t>✅ Multi-Agent Collaboration</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Emotion Analysis Agent </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Risk Assessment Agent </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Intervention Agent </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Resource Recommendation Agent </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Emergency Response Agent </a:t>
            </a:r>
          </a:p>
          <a:p>
            <a:r>
              <a:rPr lang="en-US" sz="1600" b="1" dirty="0">
                <a:solidFill>
                  <a:srgbClr val="C00000"/>
                </a:solidFill>
                <a:latin typeface="Cambria" panose="02040503050406030204" pitchFamily="18" charset="0"/>
                <a:ea typeface="Cambria" panose="02040503050406030204" pitchFamily="18" charset="0"/>
              </a:rPr>
              <a:t>✅ Real-Time Crisis Intervention</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Provides 24/7 empathetic conversational support. </a:t>
            </a:r>
          </a:p>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Connects users with counselors, helplines, or emergency services when needed.</a:t>
            </a:r>
          </a:p>
          <a:p>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0" y="484632"/>
            <a:ext cx="12192000" cy="584775"/>
          </a:xfrm>
          <a:prstGeom prst="rect">
            <a:avLst/>
          </a:prstGeom>
          <a:noFill/>
        </p:spPr>
        <p:txBody>
          <a:bodyPr wrap="square" rtlCol="0">
            <a:spAutoFit/>
          </a:bodyPr>
          <a:lstStyle/>
          <a:p>
            <a:r>
              <a:rPr lang="en-US" sz="3200" b="1" dirty="0">
                <a:latin typeface="Cambria" panose="02040503050406030204" pitchFamily="18" charset="0"/>
                <a:ea typeface="Cambria" panose="02040503050406030204" pitchFamily="18" charset="0"/>
              </a:rPr>
              <a:t>Technology Used</a:t>
            </a:r>
            <a:endParaRPr lang="en-IN" sz="3200" b="1"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130629" y="1207008"/>
            <a:ext cx="11915191" cy="6247864"/>
          </a:xfrm>
          <a:prstGeom prst="rect">
            <a:avLst/>
          </a:prstGeom>
          <a:noFill/>
        </p:spPr>
        <p:txBody>
          <a:bodyPr wrap="square" rtlCol="0">
            <a:spAutoFit/>
          </a:bodyPr>
          <a:lstStyle/>
          <a:p>
            <a:pPr marL="285750" indent="-285750">
              <a:buFont typeface="Arial" panose="020B0604020202020204" pitchFamily="34" charset="0"/>
              <a:buChar char="•"/>
            </a:pPr>
            <a:r>
              <a:rPr lang="en-US" sz="2000" b="1" dirty="0" err="1">
                <a:latin typeface="Cambria" panose="02040503050406030204" pitchFamily="18" charset="0"/>
                <a:ea typeface="Cambria" panose="02040503050406030204" pitchFamily="18" charset="0"/>
              </a:rPr>
              <a:t>Langflow</a:t>
            </a:r>
            <a:r>
              <a:rPr lang="en-US" sz="2000" b="1" dirty="0">
                <a:latin typeface="Cambria" panose="02040503050406030204" pitchFamily="18" charset="0"/>
                <a:ea typeface="Cambria" panose="02040503050406030204" pitchFamily="18" charset="0"/>
              </a:rPr>
              <a:t> platform </a:t>
            </a:r>
            <a:endParaRPr lang="en-US" sz="2000" dirty="0">
              <a:latin typeface="Cambria" panose="02040503050406030204" pitchFamily="18" charset="0"/>
              <a:ea typeface="Cambria" panose="02040503050406030204" pitchFamily="18" charset="0"/>
            </a:endParaRPr>
          </a:p>
          <a:p>
            <a:r>
              <a:rPr lang="en-US" sz="2000" dirty="0" smtClean="0">
                <a:latin typeface="Cambria" panose="02040503050406030204" pitchFamily="18" charset="0"/>
                <a:ea typeface="Cambria" panose="02040503050406030204" pitchFamily="18" charset="0"/>
              </a:rPr>
              <a:t>For </a:t>
            </a:r>
            <a:r>
              <a:rPr lang="en-US" sz="2000" dirty="0">
                <a:latin typeface="Cambria" panose="02040503050406030204" pitchFamily="18" charset="0"/>
                <a:ea typeface="Cambria" panose="02040503050406030204" pitchFamily="18" charset="0"/>
              </a:rPr>
              <a:t>designing and orchestrating multi-agent workflows visually</a:t>
            </a:r>
          </a:p>
          <a:p>
            <a:pPr marL="285750" indent="-28575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2000" b="1" dirty="0">
                <a:latin typeface="Cambria" panose="02040503050406030204" pitchFamily="18" charset="0"/>
                <a:ea typeface="Cambria" panose="02040503050406030204" pitchFamily="18" charset="0"/>
              </a:rPr>
              <a:t>IBM </a:t>
            </a:r>
            <a:r>
              <a:rPr lang="en-US" sz="2000" b="1" dirty="0" err="1">
                <a:latin typeface="Cambria" panose="02040503050406030204" pitchFamily="18" charset="0"/>
                <a:ea typeface="Cambria" panose="02040503050406030204" pitchFamily="18" charset="0"/>
              </a:rPr>
              <a:t>Grainte</a:t>
            </a:r>
            <a:r>
              <a:rPr lang="en-US" sz="2000" b="1" dirty="0">
                <a:latin typeface="Cambria" panose="02040503050406030204" pitchFamily="18" charset="0"/>
                <a:ea typeface="Cambria" panose="02040503050406030204" pitchFamily="18" charset="0"/>
              </a:rPr>
              <a:t> model </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F</a:t>
            </a:r>
            <a:r>
              <a:rPr lang="en-US" sz="2000" dirty="0" smtClean="0">
                <a:latin typeface="Cambria" panose="02040503050406030204" pitchFamily="18" charset="0"/>
                <a:ea typeface="Cambria" panose="02040503050406030204" pitchFamily="18" charset="0"/>
              </a:rPr>
              <a:t>or </a:t>
            </a:r>
            <a:r>
              <a:rPr lang="en-US" sz="2000" dirty="0" err="1">
                <a:latin typeface="Cambria" panose="02040503050406030204" pitchFamily="18" charset="0"/>
                <a:ea typeface="Cambria" panose="02040503050406030204" pitchFamily="18" charset="0"/>
              </a:rPr>
              <a:t>eg</a:t>
            </a:r>
            <a:r>
              <a:rPr lang="en-US" sz="2000" dirty="0">
                <a:latin typeface="Cambria" panose="02040503050406030204" pitchFamily="18" charset="0"/>
                <a:ea typeface="Cambria" panose="02040503050406030204" pitchFamily="18" charset="0"/>
              </a:rPr>
              <a:t> – ibm-granite-3-2-8b – For natural language understanding, reasoning, and personalization</a:t>
            </a:r>
          </a:p>
          <a:p>
            <a:pPr marL="285750" indent="-28575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2000" b="1" dirty="0">
                <a:latin typeface="Cambria" panose="02040503050406030204" pitchFamily="18" charset="0"/>
                <a:ea typeface="Cambria" panose="02040503050406030204" pitchFamily="18" charset="0"/>
              </a:rPr>
              <a:t>IBM Cloud </a:t>
            </a:r>
            <a:endParaRPr lang="en-US" sz="2000" dirty="0">
              <a:latin typeface="Cambria" panose="02040503050406030204" pitchFamily="18" charset="0"/>
              <a:ea typeface="Cambria" panose="02040503050406030204" pitchFamily="18" charset="0"/>
            </a:endParaRPr>
          </a:p>
          <a:p>
            <a:r>
              <a:rPr lang="en-US" sz="2000" dirty="0" smtClean="0">
                <a:latin typeface="Cambria" panose="02040503050406030204" pitchFamily="18" charset="0"/>
                <a:ea typeface="Cambria" panose="02040503050406030204" pitchFamily="18" charset="0"/>
              </a:rPr>
              <a:t>It </a:t>
            </a:r>
            <a:r>
              <a:rPr lang="en-US" sz="2000" dirty="0">
                <a:latin typeface="Cambria" panose="02040503050406030204" pitchFamily="18" charset="0"/>
                <a:ea typeface="Cambria" panose="02040503050406030204" pitchFamily="18" charset="0"/>
              </a:rPr>
              <a:t>provides the infrastructure to build, deploy, and scale the Nutrition Agent efficiently. IBM Cloud enables a </a:t>
            </a:r>
            <a:r>
              <a:rPr lang="en-US" sz="2000" b="1" dirty="0">
                <a:latin typeface="Cambria" panose="02040503050406030204" pitchFamily="18" charset="0"/>
                <a:ea typeface="Cambria" panose="02040503050406030204" pitchFamily="18" charset="0"/>
              </a:rPr>
              <a:t>reliable, secure, and scalable environment</a:t>
            </a:r>
            <a:r>
              <a:rPr lang="en-US" sz="2000" dirty="0">
                <a:latin typeface="Cambria" panose="02040503050406030204" pitchFamily="18" charset="0"/>
                <a:ea typeface="Cambria" panose="02040503050406030204" pitchFamily="18" charset="0"/>
              </a:rPr>
              <a:t> for deploying the Nutrition Agent.</a:t>
            </a:r>
          </a:p>
          <a:p>
            <a:pPr marL="285750" indent="-28575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2000" b="1" dirty="0" smtClean="0">
                <a:latin typeface="Cambria" panose="02040503050406030204" pitchFamily="18" charset="0"/>
                <a:ea typeface="Cambria" panose="02040503050406030204" pitchFamily="18" charset="0"/>
              </a:rPr>
              <a:t>RAG</a:t>
            </a:r>
          </a:p>
          <a:p>
            <a:r>
              <a:rPr lang="en-US" sz="2000" dirty="0" smtClean="0">
                <a:latin typeface="Cambria" panose="02040503050406030204" pitchFamily="18" charset="0"/>
                <a:ea typeface="Cambria" panose="02040503050406030204" pitchFamily="18" charset="0"/>
              </a:rPr>
              <a:t>RAG </a:t>
            </a:r>
            <a:r>
              <a:rPr lang="en-US" sz="2000" dirty="0">
                <a:latin typeface="Cambria" panose="02040503050406030204" pitchFamily="18" charset="0"/>
                <a:ea typeface="Cambria" panose="02040503050406030204" pitchFamily="18" charset="0"/>
              </a:rPr>
              <a:t>to </a:t>
            </a:r>
            <a:r>
              <a:rPr lang="en-US" sz="2000" b="1" dirty="0">
                <a:latin typeface="Cambria" panose="02040503050406030204" pitchFamily="18" charset="0"/>
                <a:ea typeface="Cambria" panose="02040503050406030204" pitchFamily="18" charset="0"/>
              </a:rPr>
              <a:t>fetch real data first, then generate intelligent answers</a:t>
            </a:r>
            <a:r>
              <a:rPr lang="en-US" sz="2000" dirty="0">
                <a:latin typeface="Cambria" panose="02040503050406030204" pitchFamily="18" charset="0"/>
                <a:ea typeface="Cambria" panose="02040503050406030204" pitchFamily="18" charset="0"/>
              </a:rPr>
              <a:t>, making the Nutrition Agent more trustworthy and effective.</a:t>
            </a:r>
          </a:p>
          <a:p>
            <a:pPr marL="285750" indent="-28575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2000" b="1" dirty="0">
                <a:latin typeface="Cambria" panose="02040503050406030204" pitchFamily="18" charset="0"/>
                <a:ea typeface="Cambria" panose="02040503050406030204" pitchFamily="18" charset="0"/>
              </a:rPr>
              <a:t>IBM Watsonx.ai </a:t>
            </a:r>
          </a:p>
          <a:p>
            <a:r>
              <a:rPr lang="en-US" sz="2000" dirty="0" smtClean="0">
                <a:latin typeface="Cambria" panose="02040503050406030204" pitchFamily="18" charset="0"/>
                <a:ea typeface="Cambria" panose="02040503050406030204" pitchFamily="18" charset="0"/>
              </a:rPr>
              <a:t>For </a:t>
            </a:r>
            <a:r>
              <a:rPr lang="en-US" sz="2000" dirty="0">
                <a:latin typeface="Cambria" panose="02040503050406030204" pitchFamily="18" charset="0"/>
                <a:ea typeface="Cambria" panose="02040503050406030204" pitchFamily="18" charset="0"/>
              </a:rPr>
              <a:t>model deployment, embeddings, and AI governance</a:t>
            </a:r>
          </a:p>
          <a:p>
            <a:pPr marL="285750" indent="-28575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6440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0" y="335341"/>
            <a:ext cx="12192000" cy="584775"/>
          </a:xfrm>
          <a:prstGeom prst="rect">
            <a:avLst/>
          </a:prstGeom>
          <a:noFill/>
        </p:spPr>
        <p:txBody>
          <a:bodyPr wrap="square" rtlCol="0">
            <a:spAutoFit/>
          </a:bodyPr>
          <a:lstStyle>
            <a:defPPr marR="0" lvl="0" algn="l" rtl="0">
              <a:lnSpc>
                <a:spcPct val="100000"/>
              </a:lnSpc>
              <a:spcBef>
                <a:spcPts val="0"/>
              </a:spcBef>
              <a:spcAft>
                <a:spcPts val="0"/>
              </a:spcAft>
            </a:defPPr>
            <a:lvl1pPr>
              <a:defRPr sz="3200" b="1">
                <a:latin typeface="Cambria" panose="02040503050406030204" pitchFamily="18" charset="0"/>
                <a:ea typeface="Cambria" panose="02040503050406030204" pitchFamily="18" charset="0"/>
              </a:defRPr>
            </a:lvl1pPr>
          </a:lstStyle>
          <a:p>
            <a:r>
              <a:rPr lang="en-US" dirty="0"/>
              <a:t>Novelty and Uniqueness</a:t>
            </a:r>
            <a:endParaRPr lang="en-IN" dirty="0"/>
          </a:p>
        </p:txBody>
      </p:sp>
      <p:sp>
        <p:nvSpPr>
          <p:cNvPr id="3" name="TextBox 2">
            <a:extLst>
              <a:ext uri="{FF2B5EF4-FFF2-40B4-BE49-F238E27FC236}">
                <a16:creationId xmlns:a16="http://schemas.microsoft.com/office/drawing/2014/main" id="{ED65F54F-855A-0DB6-09A6-3212C5F7405B}"/>
              </a:ext>
            </a:extLst>
          </p:cNvPr>
          <p:cNvSpPr txBox="1"/>
          <p:nvPr/>
        </p:nvSpPr>
        <p:spPr>
          <a:xfrm>
            <a:off x="0" y="1207008"/>
            <a:ext cx="12191999" cy="5078313"/>
          </a:xfrm>
          <a:prstGeom prst="rect">
            <a:avLst/>
          </a:prstGeom>
          <a:noFill/>
        </p:spPr>
        <p:txBody>
          <a:bodyPr wrap="square" rtlCol="0">
            <a:spAutoFit/>
          </a:bodyPr>
          <a:lstStyle/>
          <a:p>
            <a:pPr lvl="0" algn="just" eaLnBrk="0" fontAlgn="base" hangingPunct="0">
              <a:spcBef>
                <a:spcPct val="0"/>
              </a:spcBef>
              <a:spcAft>
                <a:spcPct val="0"/>
              </a:spcAft>
              <a:buClrTx/>
            </a:pPr>
            <a:r>
              <a:rPr lang="en-US" altLang="en-US" sz="1800" dirty="0">
                <a:solidFill>
                  <a:schemeClr val="tx1"/>
                </a:solidFill>
                <a:latin typeface="Cambria" panose="02040503050406030204" pitchFamily="18" charset="0"/>
                <a:ea typeface="Cambria" panose="02040503050406030204" pitchFamily="18" charset="0"/>
              </a:rPr>
              <a:t>The proposed solution introduces a novel multi-agent Agentic AI framework that integrates emotional intelligence, autonomous decision-making, real-time suicide risk prediction, personalized intervention planning, and human-AI collaboration within a unified mental healthcare ecosystem, moving beyond conventional </a:t>
            </a:r>
            <a:r>
              <a:rPr lang="en-US" altLang="en-US" sz="1800" dirty="0" err="1">
                <a:solidFill>
                  <a:schemeClr val="tx1"/>
                </a:solidFill>
                <a:latin typeface="Cambria" panose="02040503050406030204" pitchFamily="18" charset="0"/>
                <a:ea typeface="Cambria" panose="02040503050406030204" pitchFamily="18" charset="0"/>
              </a:rPr>
              <a:t>chatbot</a:t>
            </a:r>
            <a:r>
              <a:rPr lang="en-US" altLang="en-US" sz="1800" dirty="0">
                <a:solidFill>
                  <a:schemeClr val="tx1"/>
                </a:solidFill>
                <a:latin typeface="Cambria" panose="02040503050406030204" pitchFamily="18" charset="0"/>
                <a:ea typeface="Cambria" panose="02040503050406030204" pitchFamily="18" charset="0"/>
              </a:rPr>
              <a:t>-based mental health support systems.</a:t>
            </a:r>
          </a:p>
          <a:p>
            <a:pPr lvl="0" algn="just" eaLnBrk="0" fontAlgn="base" hangingPunct="0">
              <a:spcBef>
                <a:spcPct val="0"/>
              </a:spcBef>
              <a:spcAft>
                <a:spcPct val="0"/>
              </a:spcAft>
              <a:buClrTx/>
            </a:pPr>
            <a:endParaRPr lang="en-US" altLang="en-US" sz="1800" dirty="0">
              <a:solidFill>
                <a:schemeClr val="tx1"/>
              </a:solidFill>
              <a:latin typeface="Cambria" panose="02040503050406030204" pitchFamily="18" charset="0"/>
              <a:ea typeface="Cambria" panose="02040503050406030204" pitchFamily="18" charset="0"/>
            </a:endParaRPr>
          </a:p>
          <a:p>
            <a:pPr lvl="0" algn="just"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Autonomous Multi-Agent Intelligence</a:t>
            </a:r>
            <a:r>
              <a:rPr lang="en-US" altLang="en-US" sz="1800" dirty="0">
                <a:solidFill>
                  <a:schemeClr val="tx1"/>
                </a:solidFill>
                <a:latin typeface="Cambria" panose="02040503050406030204" pitchFamily="18" charset="0"/>
                <a:ea typeface="Cambria" panose="02040503050406030204" pitchFamily="18" charset="0"/>
              </a:rPr>
              <a:t> – Multiple AI agents collaborate to analyze emotions, assess risks, and deliver appropriate interventions. </a:t>
            </a:r>
          </a:p>
          <a:p>
            <a:pPr lvl="0" algn="just"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Proactive Rather Than Reactive Support</a:t>
            </a:r>
            <a:r>
              <a:rPr lang="en-US" altLang="en-US" sz="1800" dirty="0">
                <a:solidFill>
                  <a:schemeClr val="tx1"/>
                </a:solidFill>
                <a:latin typeface="Cambria" panose="02040503050406030204" pitchFamily="18" charset="0"/>
                <a:ea typeface="Cambria" panose="02040503050406030204" pitchFamily="18" charset="0"/>
              </a:rPr>
              <a:t> – Continuously detects early signs of mental distress before a crisis occurs. </a:t>
            </a:r>
          </a:p>
          <a:p>
            <a:pPr lvl="0" algn="just"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Dynamic Personalized Intervention</a:t>
            </a:r>
            <a:r>
              <a:rPr lang="en-US" altLang="en-US" sz="1800" dirty="0">
                <a:solidFill>
                  <a:schemeClr val="tx1"/>
                </a:solidFill>
                <a:latin typeface="Cambria" panose="02040503050406030204" pitchFamily="18" charset="0"/>
                <a:ea typeface="Cambria" panose="02040503050406030204" pitchFamily="18" charset="0"/>
              </a:rPr>
              <a:t> – Provides tailored mental wellness recommendations based on individual needs and behavior. </a:t>
            </a:r>
          </a:p>
          <a:p>
            <a:pPr lvl="0" algn="just"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Real-Time Suicide Risk Prediction</a:t>
            </a:r>
            <a:r>
              <a:rPr lang="en-US" altLang="en-US" sz="1800" dirty="0">
                <a:solidFill>
                  <a:schemeClr val="tx1"/>
                </a:solidFill>
                <a:latin typeface="Cambria" panose="02040503050406030204" pitchFamily="18" charset="0"/>
                <a:ea typeface="Cambria" panose="02040503050406030204" pitchFamily="18" charset="0"/>
              </a:rPr>
              <a:t> – Identifies suicide warning signs in real time using AI-driven behavioral and sentiment analysis. </a:t>
            </a:r>
          </a:p>
          <a:p>
            <a:pPr lvl="0" algn="just"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Explainable AI-Driven Decision Making</a:t>
            </a:r>
            <a:r>
              <a:rPr lang="en-US" altLang="en-US" sz="1800" dirty="0">
                <a:solidFill>
                  <a:schemeClr val="tx1"/>
                </a:solidFill>
                <a:latin typeface="Cambria" panose="02040503050406030204" pitchFamily="18" charset="0"/>
                <a:ea typeface="Cambria" panose="02040503050406030204" pitchFamily="18" charset="0"/>
              </a:rPr>
              <a:t> – Generates transparent and understandable reasons behind recommendations and risk assessments. </a:t>
            </a:r>
          </a:p>
          <a:p>
            <a:pPr lvl="0" algn="just"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Human-AI Collaborative Care Framework</a:t>
            </a:r>
            <a:r>
              <a:rPr lang="en-US" altLang="en-US" sz="1800" dirty="0">
                <a:solidFill>
                  <a:schemeClr val="tx1"/>
                </a:solidFill>
                <a:latin typeface="Cambria" panose="02040503050406030204" pitchFamily="18" charset="0"/>
                <a:ea typeface="Cambria" panose="02040503050406030204" pitchFamily="18" charset="0"/>
              </a:rPr>
              <a:t> – Supports mental health professionals through intelligent monitoring and early-warning assistance. </a:t>
            </a:r>
          </a:p>
          <a:p>
            <a:pPr lvl="0" algn="just" eaLnBrk="0" fontAlgn="base" hangingPunct="0">
              <a:spcBef>
                <a:spcPct val="0"/>
              </a:spcBef>
              <a:spcAft>
                <a:spcPct val="0"/>
              </a:spcAft>
              <a:buClrTx/>
              <a:buFontTx/>
              <a:buChar char="•"/>
            </a:pPr>
            <a:r>
              <a:rPr lang="en-US" altLang="en-US" sz="1800" b="1" dirty="0" smtClean="0">
                <a:solidFill>
                  <a:schemeClr val="tx1"/>
                </a:solidFill>
                <a:latin typeface="Cambria" panose="02040503050406030204" pitchFamily="18" charset="0"/>
                <a:ea typeface="Cambria" panose="02040503050406030204" pitchFamily="18" charset="0"/>
              </a:rPr>
              <a:t>Ethical </a:t>
            </a:r>
            <a:r>
              <a:rPr lang="en-US" altLang="en-US" sz="1800" b="1" dirty="0">
                <a:solidFill>
                  <a:schemeClr val="tx1"/>
                </a:solidFill>
                <a:latin typeface="Cambria" panose="02040503050406030204" pitchFamily="18" charset="0"/>
                <a:ea typeface="Cambria" panose="02040503050406030204" pitchFamily="18" charset="0"/>
              </a:rPr>
              <a:t>and Responsible AI Architecture</a:t>
            </a:r>
            <a:r>
              <a:rPr lang="en-US" altLang="en-US" sz="1800" dirty="0">
                <a:solidFill>
                  <a:schemeClr val="tx1"/>
                </a:solidFill>
                <a:latin typeface="Cambria" panose="02040503050406030204" pitchFamily="18" charset="0"/>
                <a:ea typeface="Cambria" panose="02040503050406030204" pitchFamily="18" charset="0"/>
              </a:rPr>
              <a:t> – Ensures privacy, fairness, security, and consent-based mental healthcare support. </a:t>
            </a:r>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11966" y="420729"/>
            <a:ext cx="12080033"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dirty="0">
                <a:latin typeface="Cambria" panose="02040503050406030204" pitchFamily="18" charset="0"/>
                <a:ea typeface="Cambria" panose="02040503050406030204" pitchFamily="18" charset="0"/>
                <a:sym typeface="Times New Roman"/>
              </a:rPr>
              <a:t>Git Hub Link</a:t>
            </a:r>
            <a:endParaRPr sz="3200" b="1" dirty="0">
              <a:latin typeface="Cambria" panose="02040503050406030204" pitchFamily="18" charset="0"/>
              <a:ea typeface="Cambria" panose="02040503050406030204" pitchFamily="18" charset="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 name="Rectangle 1"/>
          <p:cNvSpPr/>
          <p:nvPr/>
        </p:nvSpPr>
        <p:spPr>
          <a:xfrm>
            <a:off x="0" y="2067607"/>
            <a:ext cx="12192000" cy="461665"/>
          </a:xfrm>
          <a:prstGeom prst="rect">
            <a:avLst/>
          </a:prstGeom>
        </p:spPr>
        <p:txBody>
          <a:bodyPr wrap="square">
            <a:spAutoFit/>
          </a:bodyPr>
          <a:lstStyle/>
          <a:p>
            <a:pPr algn="ctr"/>
            <a:r>
              <a:rPr lang="en-IN" sz="2400">
                <a:latin typeface="Cambria" panose="02040503050406030204" pitchFamily="18" charset="0"/>
                <a:ea typeface="Cambria" panose="02040503050406030204" pitchFamily="18" charset="0"/>
              </a:rPr>
              <a:t>https://github.com/deven215/Langflow.git</a:t>
            </a:r>
          </a:p>
        </p:txBody>
      </p:sp>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8662" y="346088"/>
            <a:ext cx="12120466" cy="704017"/>
          </a:xfrm>
          <a:prstGeom prst="rect">
            <a:avLst/>
          </a:prstGeom>
          <a:noFill/>
          <a:ln>
            <a:noFill/>
          </a:ln>
        </p:spPr>
        <p:txBody>
          <a:bodyPr spcFirstLastPara="1" wrap="square" lIns="0" tIns="0" rIns="0" bIns="0" anchor="t" anchorCtr="0">
            <a:noAutofit/>
          </a:bodyPr>
          <a:lstStyle/>
          <a:p>
            <a:pPr lvl="0" algn="just">
              <a:buClr>
                <a:srgbClr val="051D3A"/>
              </a:buClr>
              <a:buSzPts val="3500"/>
            </a:pPr>
            <a:r>
              <a:rPr lang="en-US" sz="3200" b="1" dirty="0">
                <a:latin typeface="Cambria" panose="02040503050406030204" pitchFamily="18" charset="0"/>
                <a:ea typeface="Cambria" panose="02040503050406030204" pitchFamily="18" charset="0"/>
                <a:sym typeface="Times New Roman"/>
              </a:rPr>
              <a:t>Future Scope of Agentic AI for Mental Health Awareness &amp; Suicide Prevention</a:t>
            </a:r>
            <a:endParaRPr sz="3200" b="1" dirty="0">
              <a:latin typeface="Cambria" panose="02040503050406030204" pitchFamily="18" charset="0"/>
              <a:ea typeface="Cambria" panose="02040503050406030204" pitchFamily="18" charset="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27994" y="1650923"/>
            <a:ext cx="12092472" cy="5253730"/>
          </a:xfrm>
          <a:prstGeom prst="rect">
            <a:avLst/>
          </a:prstGeom>
          <a:noFill/>
          <a:ln>
            <a:noFill/>
          </a:ln>
        </p:spPr>
        <p:txBody>
          <a:bodyPr spcFirstLastPara="1" wrap="square" lIns="0" tIns="0" rIns="0" bIns="0" anchor="t" anchorCtr="0">
            <a:noAutofit/>
          </a:bodyPr>
          <a:lstStyle/>
          <a:p>
            <a:pPr lvl="0"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Multimodal Emotion Recognition</a:t>
            </a:r>
            <a:r>
              <a:rPr lang="en-US" altLang="en-US" sz="1800" dirty="0">
                <a:solidFill>
                  <a:schemeClr val="tx1"/>
                </a:solidFill>
                <a:latin typeface="Cambria" panose="02040503050406030204" pitchFamily="18" charset="0"/>
                <a:ea typeface="Cambria" panose="02040503050406030204" pitchFamily="18" charset="0"/>
              </a:rPr>
              <a:t> – Integrate text, voice, facial expressions, and wearable sensor data for more accurate mental health assessment. </a:t>
            </a:r>
          </a:p>
          <a:p>
            <a:pPr lvl="0"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Predictive Mental Health Analytics</a:t>
            </a:r>
            <a:r>
              <a:rPr lang="en-US" altLang="en-US" sz="1800" dirty="0">
                <a:solidFill>
                  <a:schemeClr val="tx1"/>
                </a:solidFill>
                <a:latin typeface="Cambria" panose="02040503050406030204" pitchFamily="18" charset="0"/>
                <a:ea typeface="Cambria" panose="02040503050406030204" pitchFamily="18" charset="0"/>
              </a:rPr>
              <a:t> – Use advanced AI models to forecast mental health crises before they occur. </a:t>
            </a:r>
          </a:p>
          <a:p>
            <a:pPr lvl="0"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Integration with Wearable Devices</a:t>
            </a:r>
            <a:r>
              <a:rPr lang="en-US" altLang="en-US" sz="1800" dirty="0">
                <a:solidFill>
                  <a:schemeClr val="tx1"/>
                </a:solidFill>
                <a:latin typeface="Cambria" panose="02040503050406030204" pitchFamily="18" charset="0"/>
                <a:ea typeface="Cambria" panose="02040503050406030204" pitchFamily="18" charset="0"/>
              </a:rPr>
              <a:t> – Monitor stress, sleep, heart rate, and activity levels for real-time wellness tracking. </a:t>
            </a:r>
          </a:p>
          <a:p>
            <a:pPr lvl="0"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Personalized Digital Therapeutics</a:t>
            </a:r>
            <a:r>
              <a:rPr lang="en-US" altLang="en-US" sz="1800" dirty="0">
                <a:solidFill>
                  <a:schemeClr val="tx1"/>
                </a:solidFill>
                <a:latin typeface="Cambria" panose="02040503050406030204" pitchFamily="18" charset="0"/>
                <a:ea typeface="Cambria" panose="02040503050406030204" pitchFamily="18" charset="0"/>
              </a:rPr>
              <a:t> – Deliver adaptive therapy plans and evidence-based interventions tailored to individual needs. </a:t>
            </a:r>
          </a:p>
          <a:p>
            <a:pPr lvl="0"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Healthcare System Integration</a:t>
            </a:r>
            <a:r>
              <a:rPr lang="en-US" altLang="en-US" sz="1800" dirty="0">
                <a:solidFill>
                  <a:schemeClr val="tx1"/>
                </a:solidFill>
                <a:latin typeface="Cambria" panose="02040503050406030204" pitchFamily="18" charset="0"/>
                <a:ea typeface="Cambria" panose="02040503050406030204" pitchFamily="18" charset="0"/>
              </a:rPr>
              <a:t> – Connect with hospitals, counselors, and telemedicine platforms for seamless care coordination. </a:t>
            </a:r>
          </a:p>
          <a:p>
            <a:pPr lvl="0"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Multilingual and Cross-Cultural Support</a:t>
            </a:r>
            <a:r>
              <a:rPr lang="en-US" altLang="en-US" sz="1800" dirty="0">
                <a:solidFill>
                  <a:schemeClr val="tx1"/>
                </a:solidFill>
                <a:latin typeface="Cambria" panose="02040503050406030204" pitchFamily="18" charset="0"/>
                <a:ea typeface="Cambria" panose="02040503050406030204" pitchFamily="18" charset="0"/>
              </a:rPr>
              <a:t> – Expand accessibility through support for diverse languages and cultural contexts. </a:t>
            </a:r>
          </a:p>
          <a:p>
            <a:pPr lvl="0"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Federated and Privacy-Preserving AI</a:t>
            </a:r>
            <a:r>
              <a:rPr lang="en-US" altLang="en-US" sz="1800" dirty="0">
                <a:solidFill>
                  <a:schemeClr val="tx1"/>
                </a:solidFill>
                <a:latin typeface="Cambria" panose="02040503050406030204" pitchFamily="18" charset="0"/>
                <a:ea typeface="Cambria" panose="02040503050406030204" pitchFamily="18" charset="0"/>
              </a:rPr>
              <a:t> – Enhance data security using decentralized learning and privacy-preserving techniques. </a:t>
            </a:r>
          </a:p>
          <a:p>
            <a:pPr lvl="0"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Advanced Human-AI Collaboration</a:t>
            </a:r>
            <a:r>
              <a:rPr lang="en-US" altLang="en-US" sz="1800" dirty="0">
                <a:solidFill>
                  <a:schemeClr val="tx1"/>
                </a:solidFill>
                <a:latin typeface="Cambria" panose="02040503050406030204" pitchFamily="18" charset="0"/>
                <a:ea typeface="Cambria" panose="02040503050406030204" pitchFamily="18" charset="0"/>
              </a:rPr>
              <a:t> – Enable closer collaboration between AI agents, psychologists, and caregivers for improved outcomes. </a:t>
            </a:r>
          </a:p>
          <a:p>
            <a:pPr lvl="0"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Community and Peer Support Networks</a:t>
            </a:r>
            <a:r>
              <a:rPr lang="en-US" altLang="en-US" sz="1800" dirty="0">
                <a:solidFill>
                  <a:schemeClr val="tx1"/>
                </a:solidFill>
                <a:latin typeface="Cambria" panose="02040503050406030204" pitchFamily="18" charset="0"/>
                <a:ea typeface="Cambria" panose="02040503050406030204" pitchFamily="18" charset="0"/>
              </a:rPr>
              <a:t> – Facilitate safe, AI-moderated peer support communities. </a:t>
            </a:r>
          </a:p>
          <a:p>
            <a:pPr lvl="0" eaLnBrk="0" fontAlgn="base" hangingPunct="0">
              <a:spcBef>
                <a:spcPct val="0"/>
              </a:spcBef>
              <a:spcAft>
                <a:spcPct val="0"/>
              </a:spcAft>
              <a:buClrTx/>
              <a:buFontTx/>
              <a:buChar char="•"/>
            </a:pPr>
            <a:r>
              <a:rPr lang="en-US" altLang="en-US" sz="1800" b="1" dirty="0">
                <a:solidFill>
                  <a:schemeClr val="tx1"/>
                </a:solidFill>
                <a:latin typeface="Cambria" panose="02040503050406030204" pitchFamily="18" charset="0"/>
                <a:ea typeface="Cambria" panose="02040503050406030204" pitchFamily="18" charset="0"/>
              </a:rPr>
              <a:t>Global Suicide Prevention Ecosystem</a:t>
            </a:r>
            <a:r>
              <a:rPr lang="en-US" altLang="en-US" sz="1800" dirty="0">
                <a:solidFill>
                  <a:schemeClr val="tx1"/>
                </a:solidFill>
                <a:latin typeface="Cambria" panose="02040503050406030204" pitchFamily="18" charset="0"/>
                <a:ea typeface="Cambria" panose="02040503050406030204" pitchFamily="18" charset="0"/>
              </a:rPr>
              <a:t> – Develop a scalable platform capable of supporting mental health initiatives across different regions and populations. </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1245</TotalTime>
  <Words>1261</Words>
  <Application>Microsoft Office PowerPoint</Application>
  <PresentationFormat>Widescreen</PresentationFormat>
  <Paragraphs>130</Paragraphs>
  <Slides>15</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Times New Roman</vt:lpstr>
      <vt:lpstr>Office Theme</vt:lpstr>
      <vt:lpstr>IBM University Engagement Project Submission  “Exploring the Power of Agentic AI with IBM Granite and LangFlow”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CHARUSAT</cp:lastModifiedBy>
  <cp:revision>103</cp:revision>
  <dcterms:created xsi:type="dcterms:W3CDTF">2025-07-08T05:06:56Z</dcterms:created>
  <dcterms:modified xsi:type="dcterms:W3CDTF">2026-06-11T03:48:52Z</dcterms:modified>
</cp:coreProperties>
</file>